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6" r:id="rId2"/>
    <p:sldId id="262" r:id="rId3"/>
    <p:sldId id="317" r:id="rId4"/>
    <p:sldId id="318" r:id="rId5"/>
    <p:sldId id="319" r:id="rId6"/>
    <p:sldId id="320" r:id="rId7"/>
    <p:sldId id="321" r:id="rId8"/>
    <p:sldId id="323" r:id="rId9"/>
    <p:sldId id="322" r:id="rId10"/>
  </p:sldIdLst>
  <p:sldSz cx="12192000" cy="6858000"/>
  <p:notesSz cx="6858000" cy="9144000"/>
  <p:custDataLst>
    <p:tags r:id="rId11"/>
  </p:custDataLst>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579"/>
    <a:srgbClr val="A08EF1"/>
    <a:srgbClr val="5FDFB4"/>
    <a:srgbClr val="CDF5E8"/>
    <a:srgbClr val="590A06"/>
    <a:srgbClr val="40382D"/>
    <a:srgbClr val="F2F2F2"/>
    <a:srgbClr val="FFD9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Estilo medio 4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0" autoAdjust="0"/>
    <p:restoredTop sz="94660"/>
  </p:normalViewPr>
  <p:slideViewPr>
    <p:cSldViewPr snapToGrid="0">
      <p:cViewPr varScale="1">
        <p:scale>
          <a:sx n="113" d="100"/>
          <a:sy n="113" d="100"/>
        </p:scale>
        <p:origin x="51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6867FC-A8DE-BEB7-2309-ADCA07866EA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4B85DAD0-4459-FE55-CECB-B90C12D2C4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4C93660F-B513-D89E-3576-4B88D2721097}"/>
              </a:ext>
            </a:extLst>
          </p:cNvPr>
          <p:cNvSpPr>
            <a:spLocks noGrp="1"/>
          </p:cNvSpPr>
          <p:nvPr>
            <p:ph type="dt" sz="half" idx="10"/>
          </p:nvPr>
        </p:nvSpPr>
        <p:spPr/>
        <p:txBody>
          <a:bodyPr/>
          <a:lstStyle/>
          <a:p>
            <a:fld id="{20C7AFBE-F2C4-4925-8955-5790DBA5559D}" type="datetimeFigureOut">
              <a:rPr lang="es-CO" smtClean="0"/>
              <a:t>15/11/2025</a:t>
            </a:fld>
            <a:endParaRPr lang="es-CO"/>
          </a:p>
        </p:txBody>
      </p:sp>
      <p:sp>
        <p:nvSpPr>
          <p:cNvPr id="5" name="Marcador de pie de página 4">
            <a:extLst>
              <a:ext uri="{FF2B5EF4-FFF2-40B4-BE49-F238E27FC236}">
                <a16:creationId xmlns:a16="http://schemas.microsoft.com/office/drawing/2014/main" id="{B1571D67-05D4-40F3-A596-B31971CA820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0F4F99C-EC70-5C40-C5B7-8479F75E2796}"/>
              </a:ext>
            </a:extLst>
          </p:cNvPr>
          <p:cNvSpPr>
            <a:spLocks noGrp="1"/>
          </p:cNvSpPr>
          <p:nvPr>
            <p:ph type="sldNum" sz="quarter" idx="12"/>
          </p:nvPr>
        </p:nvSpPr>
        <p:spPr/>
        <p:txBody>
          <a:bodyPr/>
          <a:lstStyle/>
          <a:p>
            <a:fld id="{2F2EB2F7-2FFB-4DD8-B77C-3FC4F01FFE5E}" type="slidenum">
              <a:rPr lang="es-CO" smtClean="0"/>
              <a:t>‹Nº›</a:t>
            </a:fld>
            <a:endParaRPr lang="es-CO"/>
          </a:p>
        </p:txBody>
      </p:sp>
    </p:spTree>
    <p:extLst>
      <p:ext uri="{BB962C8B-B14F-4D97-AF65-F5344CB8AC3E}">
        <p14:creationId xmlns:p14="http://schemas.microsoft.com/office/powerpoint/2010/main" val="37831730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C71948-1D70-C81A-D90B-6F5DD40F066E}"/>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E83B3FA-BF34-9B88-F7A2-2664CC15FCE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8D7BB04C-53D9-2240-EFBB-03E5B4168E03}"/>
              </a:ext>
            </a:extLst>
          </p:cNvPr>
          <p:cNvSpPr>
            <a:spLocks noGrp="1"/>
          </p:cNvSpPr>
          <p:nvPr>
            <p:ph type="dt" sz="half" idx="10"/>
          </p:nvPr>
        </p:nvSpPr>
        <p:spPr/>
        <p:txBody>
          <a:bodyPr/>
          <a:lstStyle/>
          <a:p>
            <a:fld id="{20C7AFBE-F2C4-4925-8955-5790DBA5559D}" type="datetimeFigureOut">
              <a:rPr lang="es-CO" smtClean="0"/>
              <a:t>15/11/2025</a:t>
            </a:fld>
            <a:endParaRPr lang="es-CO"/>
          </a:p>
        </p:txBody>
      </p:sp>
      <p:sp>
        <p:nvSpPr>
          <p:cNvPr id="5" name="Marcador de pie de página 4">
            <a:extLst>
              <a:ext uri="{FF2B5EF4-FFF2-40B4-BE49-F238E27FC236}">
                <a16:creationId xmlns:a16="http://schemas.microsoft.com/office/drawing/2014/main" id="{52E6789C-BF46-2BBB-306A-AA8A16DBBCD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9072ED8-D00A-CE94-25F5-8515F3C92176}"/>
              </a:ext>
            </a:extLst>
          </p:cNvPr>
          <p:cNvSpPr>
            <a:spLocks noGrp="1"/>
          </p:cNvSpPr>
          <p:nvPr>
            <p:ph type="sldNum" sz="quarter" idx="12"/>
          </p:nvPr>
        </p:nvSpPr>
        <p:spPr/>
        <p:txBody>
          <a:bodyPr/>
          <a:lstStyle/>
          <a:p>
            <a:fld id="{2F2EB2F7-2FFB-4DD8-B77C-3FC4F01FFE5E}" type="slidenum">
              <a:rPr lang="es-CO" smtClean="0"/>
              <a:t>‹Nº›</a:t>
            </a:fld>
            <a:endParaRPr lang="es-CO"/>
          </a:p>
        </p:txBody>
      </p:sp>
    </p:spTree>
    <p:extLst>
      <p:ext uri="{BB962C8B-B14F-4D97-AF65-F5344CB8AC3E}">
        <p14:creationId xmlns:p14="http://schemas.microsoft.com/office/powerpoint/2010/main" val="723037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3BDF99-07FE-98E0-669A-06E2C48D09C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23847A3-4ACC-0908-790B-8E5C10CA9B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EC98C58-1CBC-EF20-F770-D885D590223A}"/>
              </a:ext>
            </a:extLst>
          </p:cNvPr>
          <p:cNvSpPr>
            <a:spLocks noGrp="1"/>
          </p:cNvSpPr>
          <p:nvPr>
            <p:ph type="dt" sz="half" idx="10"/>
          </p:nvPr>
        </p:nvSpPr>
        <p:spPr/>
        <p:txBody>
          <a:bodyPr/>
          <a:lstStyle/>
          <a:p>
            <a:fld id="{20C7AFBE-F2C4-4925-8955-5790DBA5559D}" type="datetimeFigureOut">
              <a:rPr lang="es-CO" smtClean="0"/>
              <a:t>15/11/2025</a:t>
            </a:fld>
            <a:endParaRPr lang="es-CO"/>
          </a:p>
        </p:txBody>
      </p:sp>
      <p:sp>
        <p:nvSpPr>
          <p:cNvPr id="5" name="Marcador de pie de página 4">
            <a:extLst>
              <a:ext uri="{FF2B5EF4-FFF2-40B4-BE49-F238E27FC236}">
                <a16:creationId xmlns:a16="http://schemas.microsoft.com/office/drawing/2014/main" id="{FF18368C-D8B9-6D4B-57A6-21EA11D21B8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A26A211-29B6-2EA7-7785-143598371218}"/>
              </a:ext>
            </a:extLst>
          </p:cNvPr>
          <p:cNvSpPr>
            <a:spLocks noGrp="1"/>
          </p:cNvSpPr>
          <p:nvPr>
            <p:ph type="sldNum" sz="quarter" idx="12"/>
          </p:nvPr>
        </p:nvSpPr>
        <p:spPr/>
        <p:txBody>
          <a:bodyPr/>
          <a:lstStyle/>
          <a:p>
            <a:fld id="{2F2EB2F7-2FFB-4DD8-B77C-3FC4F01FFE5E}" type="slidenum">
              <a:rPr lang="es-CO" smtClean="0"/>
              <a:t>‹Nº›</a:t>
            </a:fld>
            <a:endParaRPr lang="es-CO"/>
          </a:p>
        </p:txBody>
      </p:sp>
    </p:spTree>
    <p:extLst>
      <p:ext uri="{BB962C8B-B14F-4D97-AF65-F5344CB8AC3E}">
        <p14:creationId xmlns:p14="http://schemas.microsoft.com/office/powerpoint/2010/main" val="3446801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322BBB-57E9-CC00-168E-0EDCF713B0B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C5C986D1-489A-F637-C584-85EE0DD2C65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2A6C9512-AB68-C18C-97AE-C94FF97A2932}"/>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15EC1403-2C43-9EFA-9859-FEBA222EA64A}"/>
              </a:ext>
            </a:extLst>
          </p:cNvPr>
          <p:cNvSpPr>
            <a:spLocks noGrp="1"/>
          </p:cNvSpPr>
          <p:nvPr>
            <p:ph type="dt" sz="half" idx="10"/>
          </p:nvPr>
        </p:nvSpPr>
        <p:spPr/>
        <p:txBody>
          <a:bodyPr/>
          <a:lstStyle/>
          <a:p>
            <a:fld id="{20C7AFBE-F2C4-4925-8955-5790DBA5559D}" type="datetimeFigureOut">
              <a:rPr lang="es-CO" smtClean="0"/>
              <a:t>15/11/2025</a:t>
            </a:fld>
            <a:endParaRPr lang="es-CO"/>
          </a:p>
        </p:txBody>
      </p:sp>
      <p:sp>
        <p:nvSpPr>
          <p:cNvPr id="6" name="Marcador de pie de página 5">
            <a:extLst>
              <a:ext uri="{FF2B5EF4-FFF2-40B4-BE49-F238E27FC236}">
                <a16:creationId xmlns:a16="http://schemas.microsoft.com/office/drawing/2014/main" id="{A079F71A-5E48-5A6D-32BC-AA984216C3B9}"/>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06642BCC-FC6F-7D4F-1548-44F4FAEA1ED3}"/>
              </a:ext>
            </a:extLst>
          </p:cNvPr>
          <p:cNvSpPr>
            <a:spLocks noGrp="1"/>
          </p:cNvSpPr>
          <p:nvPr>
            <p:ph type="sldNum" sz="quarter" idx="12"/>
          </p:nvPr>
        </p:nvSpPr>
        <p:spPr/>
        <p:txBody>
          <a:bodyPr/>
          <a:lstStyle/>
          <a:p>
            <a:fld id="{2F2EB2F7-2FFB-4DD8-B77C-3FC4F01FFE5E}" type="slidenum">
              <a:rPr lang="es-CO" smtClean="0"/>
              <a:t>‹Nº›</a:t>
            </a:fld>
            <a:endParaRPr lang="es-CO"/>
          </a:p>
        </p:txBody>
      </p:sp>
    </p:spTree>
    <p:extLst>
      <p:ext uri="{BB962C8B-B14F-4D97-AF65-F5344CB8AC3E}">
        <p14:creationId xmlns:p14="http://schemas.microsoft.com/office/powerpoint/2010/main" val="1083474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AA3E8A-6392-4937-1B6B-B6408F43AC9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058097CE-196A-CA0F-7949-C689C4672B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997850D-DDCE-2B8F-F886-A925AFA063D6}"/>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40AA7365-B339-74BB-17AC-78D1AFE735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E086C7C-18AD-222A-2EFF-AB30D9A066D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A152AEE7-79F3-5DD2-FA9C-EB2EAB3C7498}"/>
              </a:ext>
            </a:extLst>
          </p:cNvPr>
          <p:cNvSpPr>
            <a:spLocks noGrp="1"/>
          </p:cNvSpPr>
          <p:nvPr>
            <p:ph type="dt" sz="half" idx="10"/>
          </p:nvPr>
        </p:nvSpPr>
        <p:spPr/>
        <p:txBody>
          <a:bodyPr/>
          <a:lstStyle/>
          <a:p>
            <a:fld id="{20C7AFBE-F2C4-4925-8955-5790DBA5559D}" type="datetimeFigureOut">
              <a:rPr lang="es-CO" smtClean="0"/>
              <a:t>15/11/2025</a:t>
            </a:fld>
            <a:endParaRPr lang="es-CO"/>
          </a:p>
        </p:txBody>
      </p:sp>
      <p:sp>
        <p:nvSpPr>
          <p:cNvPr id="8" name="Marcador de pie de página 7">
            <a:extLst>
              <a:ext uri="{FF2B5EF4-FFF2-40B4-BE49-F238E27FC236}">
                <a16:creationId xmlns:a16="http://schemas.microsoft.com/office/drawing/2014/main" id="{69EF79DD-AEEE-F5CE-F2A2-AD118116DEB4}"/>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A32CD2A8-BD40-A64D-FB29-42D2CB50601D}"/>
              </a:ext>
            </a:extLst>
          </p:cNvPr>
          <p:cNvSpPr>
            <a:spLocks noGrp="1"/>
          </p:cNvSpPr>
          <p:nvPr>
            <p:ph type="sldNum" sz="quarter" idx="12"/>
          </p:nvPr>
        </p:nvSpPr>
        <p:spPr/>
        <p:txBody>
          <a:bodyPr/>
          <a:lstStyle/>
          <a:p>
            <a:fld id="{2F2EB2F7-2FFB-4DD8-B77C-3FC4F01FFE5E}" type="slidenum">
              <a:rPr lang="es-CO" smtClean="0"/>
              <a:t>‹Nº›</a:t>
            </a:fld>
            <a:endParaRPr lang="es-CO"/>
          </a:p>
        </p:txBody>
      </p:sp>
    </p:spTree>
    <p:extLst>
      <p:ext uri="{BB962C8B-B14F-4D97-AF65-F5344CB8AC3E}">
        <p14:creationId xmlns:p14="http://schemas.microsoft.com/office/powerpoint/2010/main" val="4147809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3DAC91-67EB-D444-D6C1-509B11711C3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BD35F173-A537-CFA8-9CEB-A70EAE64649A}"/>
              </a:ext>
            </a:extLst>
          </p:cNvPr>
          <p:cNvSpPr>
            <a:spLocks noGrp="1"/>
          </p:cNvSpPr>
          <p:nvPr>
            <p:ph type="dt" sz="half" idx="10"/>
          </p:nvPr>
        </p:nvSpPr>
        <p:spPr/>
        <p:txBody>
          <a:bodyPr/>
          <a:lstStyle/>
          <a:p>
            <a:fld id="{20C7AFBE-F2C4-4925-8955-5790DBA5559D}" type="datetimeFigureOut">
              <a:rPr lang="es-CO" smtClean="0"/>
              <a:t>15/11/2025</a:t>
            </a:fld>
            <a:endParaRPr lang="es-CO"/>
          </a:p>
        </p:txBody>
      </p:sp>
      <p:sp>
        <p:nvSpPr>
          <p:cNvPr id="4" name="Marcador de pie de página 3">
            <a:extLst>
              <a:ext uri="{FF2B5EF4-FFF2-40B4-BE49-F238E27FC236}">
                <a16:creationId xmlns:a16="http://schemas.microsoft.com/office/drawing/2014/main" id="{A32DB93C-BC82-4122-1972-F06E5C8F2466}"/>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7BAC77BA-0944-742F-1582-328DC6079994}"/>
              </a:ext>
            </a:extLst>
          </p:cNvPr>
          <p:cNvSpPr>
            <a:spLocks noGrp="1"/>
          </p:cNvSpPr>
          <p:nvPr>
            <p:ph type="sldNum" sz="quarter" idx="12"/>
          </p:nvPr>
        </p:nvSpPr>
        <p:spPr/>
        <p:txBody>
          <a:bodyPr/>
          <a:lstStyle/>
          <a:p>
            <a:fld id="{2F2EB2F7-2FFB-4DD8-B77C-3FC4F01FFE5E}" type="slidenum">
              <a:rPr lang="es-CO" smtClean="0"/>
              <a:t>‹Nº›</a:t>
            </a:fld>
            <a:endParaRPr lang="es-CO"/>
          </a:p>
        </p:txBody>
      </p:sp>
    </p:spTree>
    <p:extLst>
      <p:ext uri="{BB962C8B-B14F-4D97-AF65-F5344CB8AC3E}">
        <p14:creationId xmlns:p14="http://schemas.microsoft.com/office/powerpoint/2010/main" val="2230123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945E1C4-6174-26B8-BD5E-BDCBAB7CEBCF}"/>
              </a:ext>
            </a:extLst>
          </p:cNvPr>
          <p:cNvSpPr>
            <a:spLocks noGrp="1"/>
          </p:cNvSpPr>
          <p:nvPr>
            <p:ph type="dt" sz="half" idx="10"/>
          </p:nvPr>
        </p:nvSpPr>
        <p:spPr/>
        <p:txBody>
          <a:bodyPr/>
          <a:lstStyle/>
          <a:p>
            <a:fld id="{20C7AFBE-F2C4-4925-8955-5790DBA5559D}" type="datetimeFigureOut">
              <a:rPr lang="es-CO" smtClean="0"/>
              <a:t>15/11/2025</a:t>
            </a:fld>
            <a:endParaRPr lang="es-CO"/>
          </a:p>
        </p:txBody>
      </p:sp>
      <p:sp>
        <p:nvSpPr>
          <p:cNvPr id="3" name="Marcador de pie de página 2">
            <a:extLst>
              <a:ext uri="{FF2B5EF4-FFF2-40B4-BE49-F238E27FC236}">
                <a16:creationId xmlns:a16="http://schemas.microsoft.com/office/drawing/2014/main" id="{D734D51A-9FE0-73DC-339A-AB18F8D080E1}"/>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EBA08305-8078-E9A9-D645-512AA096B528}"/>
              </a:ext>
            </a:extLst>
          </p:cNvPr>
          <p:cNvSpPr>
            <a:spLocks noGrp="1"/>
          </p:cNvSpPr>
          <p:nvPr>
            <p:ph type="sldNum" sz="quarter" idx="12"/>
          </p:nvPr>
        </p:nvSpPr>
        <p:spPr/>
        <p:txBody>
          <a:bodyPr/>
          <a:lstStyle/>
          <a:p>
            <a:fld id="{2F2EB2F7-2FFB-4DD8-B77C-3FC4F01FFE5E}" type="slidenum">
              <a:rPr lang="es-CO" smtClean="0"/>
              <a:t>‹Nº›</a:t>
            </a:fld>
            <a:endParaRPr lang="es-CO"/>
          </a:p>
        </p:txBody>
      </p:sp>
    </p:spTree>
    <p:extLst>
      <p:ext uri="{BB962C8B-B14F-4D97-AF65-F5344CB8AC3E}">
        <p14:creationId xmlns:p14="http://schemas.microsoft.com/office/powerpoint/2010/main" val="4130852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D10F01-81DB-FAF2-7A28-667941ADA82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60F57EBD-4DFF-A354-AD9C-CB83FD6D9C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55AC9778-1481-3414-D966-DDD4D4B410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CA95F97-3D1A-4B0E-66FA-E1C4BC1ECA8B}"/>
              </a:ext>
            </a:extLst>
          </p:cNvPr>
          <p:cNvSpPr>
            <a:spLocks noGrp="1"/>
          </p:cNvSpPr>
          <p:nvPr>
            <p:ph type="dt" sz="half" idx="10"/>
          </p:nvPr>
        </p:nvSpPr>
        <p:spPr/>
        <p:txBody>
          <a:bodyPr/>
          <a:lstStyle/>
          <a:p>
            <a:fld id="{20C7AFBE-F2C4-4925-8955-5790DBA5559D}" type="datetimeFigureOut">
              <a:rPr lang="es-CO" smtClean="0"/>
              <a:t>15/11/2025</a:t>
            </a:fld>
            <a:endParaRPr lang="es-CO"/>
          </a:p>
        </p:txBody>
      </p:sp>
      <p:sp>
        <p:nvSpPr>
          <p:cNvPr id="6" name="Marcador de pie de página 5">
            <a:extLst>
              <a:ext uri="{FF2B5EF4-FFF2-40B4-BE49-F238E27FC236}">
                <a16:creationId xmlns:a16="http://schemas.microsoft.com/office/drawing/2014/main" id="{633523B4-6940-4754-AC34-96F68AB4D1A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644A464-A5F8-2727-FE7E-191C9CA95553}"/>
              </a:ext>
            </a:extLst>
          </p:cNvPr>
          <p:cNvSpPr>
            <a:spLocks noGrp="1"/>
          </p:cNvSpPr>
          <p:nvPr>
            <p:ph type="sldNum" sz="quarter" idx="12"/>
          </p:nvPr>
        </p:nvSpPr>
        <p:spPr/>
        <p:txBody>
          <a:bodyPr/>
          <a:lstStyle/>
          <a:p>
            <a:fld id="{2F2EB2F7-2FFB-4DD8-B77C-3FC4F01FFE5E}" type="slidenum">
              <a:rPr lang="es-CO" smtClean="0"/>
              <a:t>‹Nº›</a:t>
            </a:fld>
            <a:endParaRPr lang="es-CO"/>
          </a:p>
        </p:txBody>
      </p:sp>
    </p:spTree>
    <p:extLst>
      <p:ext uri="{BB962C8B-B14F-4D97-AF65-F5344CB8AC3E}">
        <p14:creationId xmlns:p14="http://schemas.microsoft.com/office/powerpoint/2010/main" val="3833818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EAEC7B-5DB1-3211-18A0-E7F4FE88732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B0BB9676-7850-63F3-E0CB-42C9EA4C03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5487C856-D660-42A4-4801-BC1AD05CED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830EE0A-E498-7145-6A6F-ED94302B696B}"/>
              </a:ext>
            </a:extLst>
          </p:cNvPr>
          <p:cNvSpPr>
            <a:spLocks noGrp="1"/>
          </p:cNvSpPr>
          <p:nvPr>
            <p:ph type="dt" sz="half" idx="10"/>
          </p:nvPr>
        </p:nvSpPr>
        <p:spPr/>
        <p:txBody>
          <a:bodyPr/>
          <a:lstStyle/>
          <a:p>
            <a:fld id="{20C7AFBE-F2C4-4925-8955-5790DBA5559D}" type="datetimeFigureOut">
              <a:rPr lang="es-CO" smtClean="0"/>
              <a:t>15/11/2025</a:t>
            </a:fld>
            <a:endParaRPr lang="es-CO"/>
          </a:p>
        </p:txBody>
      </p:sp>
      <p:sp>
        <p:nvSpPr>
          <p:cNvPr id="6" name="Marcador de pie de página 5">
            <a:extLst>
              <a:ext uri="{FF2B5EF4-FFF2-40B4-BE49-F238E27FC236}">
                <a16:creationId xmlns:a16="http://schemas.microsoft.com/office/drawing/2014/main" id="{F7B442C6-A743-8656-79F3-DCC6EE33934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EBFBB10F-38A0-1C19-8034-6EAE8B2573C6}"/>
              </a:ext>
            </a:extLst>
          </p:cNvPr>
          <p:cNvSpPr>
            <a:spLocks noGrp="1"/>
          </p:cNvSpPr>
          <p:nvPr>
            <p:ph type="sldNum" sz="quarter" idx="12"/>
          </p:nvPr>
        </p:nvSpPr>
        <p:spPr/>
        <p:txBody>
          <a:bodyPr/>
          <a:lstStyle/>
          <a:p>
            <a:fld id="{2F2EB2F7-2FFB-4DD8-B77C-3FC4F01FFE5E}" type="slidenum">
              <a:rPr lang="es-CO" smtClean="0"/>
              <a:t>‹Nº›</a:t>
            </a:fld>
            <a:endParaRPr lang="es-CO"/>
          </a:p>
        </p:txBody>
      </p:sp>
    </p:spTree>
    <p:extLst>
      <p:ext uri="{BB962C8B-B14F-4D97-AF65-F5344CB8AC3E}">
        <p14:creationId xmlns:p14="http://schemas.microsoft.com/office/powerpoint/2010/main" val="1431756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A1A361-5C18-6498-3353-2DF4A4261D5E}"/>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3FBA6CAE-87E8-2B95-49CD-67B2AB65F81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9A343DC-D5DB-68F0-A3CB-6E8DF0D83C14}"/>
              </a:ext>
            </a:extLst>
          </p:cNvPr>
          <p:cNvSpPr>
            <a:spLocks noGrp="1"/>
          </p:cNvSpPr>
          <p:nvPr>
            <p:ph type="dt" sz="half" idx="10"/>
          </p:nvPr>
        </p:nvSpPr>
        <p:spPr/>
        <p:txBody>
          <a:bodyPr/>
          <a:lstStyle/>
          <a:p>
            <a:fld id="{20C7AFBE-F2C4-4925-8955-5790DBA5559D}" type="datetimeFigureOut">
              <a:rPr lang="es-CO" smtClean="0"/>
              <a:t>15/11/2025</a:t>
            </a:fld>
            <a:endParaRPr lang="es-CO"/>
          </a:p>
        </p:txBody>
      </p:sp>
      <p:sp>
        <p:nvSpPr>
          <p:cNvPr id="5" name="Marcador de pie de página 4">
            <a:extLst>
              <a:ext uri="{FF2B5EF4-FFF2-40B4-BE49-F238E27FC236}">
                <a16:creationId xmlns:a16="http://schemas.microsoft.com/office/drawing/2014/main" id="{9B18F4E6-EE01-42E3-D654-75BA15C681B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F697BF0-7C74-0A8B-B7EC-276F993A71B8}"/>
              </a:ext>
            </a:extLst>
          </p:cNvPr>
          <p:cNvSpPr>
            <a:spLocks noGrp="1"/>
          </p:cNvSpPr>
          <p:nvPr>
            <p:ph type="sldNum" sz="quarter" idx="12"/>
          </p:nvPr>
        </p:nvSpPr>
        <p:spPr/>
        <p:txBody>
          <a:bodyPr/>
          <a:lstStyle/>
          <a:p>
            <a:fld id="{2F2EB2F7-2FFB-4DD8-B77C-3FC4F01FFE5E}" type="slidenum">
              <a:rPr lang="es-CO" smtClean="0"/>
              <a:t>‹Nº›</a:t>
            </a:fld>
            <a:endParaRPr lang="es-CO"/>
          </a:p>
        </p:txBody>
      </p:sp>
    </p:spTree>
    <p:extLst>
      <p:ext uri="{BB962C8B-B14F-4D97-AF65-F5344CB8AC3E}">
        <p14:creationId xmlns:p14="http://schemas.microsoft.com/office/powerpoint/2010/main" val="3556275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2FC3F77-EBFF-9CDA-9940-B87F4A539F7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D15511C0-2287-DE9F-400B-A7DCE2D5E27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8D5E7372-80DE-6BC0-682F-AB54EF25CAA7}"/>
              </a:ext>
            </a:extLst>
          </p:cNvPr>
          <p:cNvSpPr>
            <a:spLocks noGrp="1"/>
          </p:cNvSpPr>
          <p:nvPr>
            <p:ph type="dt" sz="half" idx="10"/>
          </p:nvPr>
        </p:nvSpPr>
        <p:spPr/>
        <p:txBody>
          <a:bodyPr/>
          <a:lstStyle/>
          <a:p>
            <a:fld id="{20C7AFBE-F2C4-4925-8955-5790DBA5559D}" type="datetimeFigureOut">
              <a:rPr lang="es-CO" smtClean="0"/>
              <a:t>15/11/2025</a:t>
            </a:fld>
            <a:endParaRPr lang="es-CO"/>
          </a:p>
        </p:txBody>
      </p:sp>
      <p:sp>
        <p:nvSpPr>
          <p:cNvPr id="5" name="Marcador de pie de página 4">
            <a:extLst>
              <a:ext uri="{FF2B5EF4-FFF2-40B4-BE49-F238E27FC236}">
                <a16:creationId xmlns:a16="http://schemas.microsoft.com/office/drawing/2014/main" id="{88680DEB-D5A7-76F3-4FC9-A79BF92BEA6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E7CD804-5A3C-6594-22F8-941FECCBB1FD}"/>
              </a:ext>
            </a:extLst>
          </p:cNvPr>
          <p:cNvSpPr>
            <a:spLocks noGrp="1"/>
          </p:cNvSpPr>
          <p:nvPr>
            <p:ph type="sldNum" sz="quarter" idx="12"/>
          </p:nvPr>
        </p:nvSpPr>
        <p:spPr/>
        <p:txBody>
          <a:bodyPr/>
          <a:lstStyle/>
          <a:p>
            <a:fld id="{2F2EB2F7-2FFB-4DD8-B77C-3FC4F01FFE5E}" type="slidenum">
              <a:rPr lang="es-CO" smtClean="0"/>
              <a:t>‹Nº›</a:t>
            </a:fld>
            <a:endParaRPr lang="es-CO"/>
          </a:p>
        </p:txBody>
      </p:sp>
    </p:spTree>
    <p:extLst>
      <p:ext uri="{BB962C8B-B14F-4D97-AF65-F5344CB8AC3E}">
        <p14:creationId xmlns:p14="http://schemas.microsoft.com/office/powerpoint/2010/main" val="2810495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5869A09-FEF3-311C-B2BB-C81FA0F208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8B04212-FCC9-4856-E626-1607418AD6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02E3369-AC7F-096E-2AA8-DA9FB14B64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C7AFBE-F2C4-4925-8955-5790DBA5559D}" type="datetimeFigureOut">
              <a:rPr lang="es-CO" smtClean="0"/>
              <a:t>15/11/2025</a:t>
            </a:fld>
            <a:endParaRPr lang="es-CO"/>
          </a:p>
        </p:txBody>
      </p:sp>
      <p:sp>
        <p:nvSpPr>
          <p:cNvPr id="5" name="Marcador de pie de página 4">
            <a:extLst>
              <a:ext uri="{FF2B5EF4-FFF2-40B4-BE49-F238E27FC236}">
                <a16:creationId xmlns:a16="http://schemas.microsoft.com/office/drawing/2014/main" id="{C00568B0-646E-830F-43E3-53B516B50E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6DACDB0F-BB48-6B49-1F03-D4CC8E046E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2EB2F7-2FFB-4DD8-B77C-3FC4F01FFE5E}" type="slidenum">
              <a:rPr lang="es-CO" smtClean="0"/>
              <a:t>‹Nº›</a:t>
            </a:fld>
            <a:endParaRPr lang="es-CO"/>
          </a:p>
        </p:txBody>
      </p:sp>
    </p:spTree>
    <p:extLst>
      <p:ext uri="{BB962C8B-B14F-4D97-AF65-F5344CB8AC3E}">
        <p14:creationId xmlns:p14="http://schemas.microsoft.com/office/powerpoint/2010/main" val="39631083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6.jfif"/></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7.jfif"/></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8.jfif"/></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11.jfif"/><Relationship Id="rId4" Type="http://schemas.openxmlformats.org/officeDocument/2006/relationships/image" Target="../media/image10.jf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FD7D6-C94B-33A0-66D5-1708A5CE85BB}"/>
            </a:ext>
          </a:extLst>
        </p:cNvPr>
        <p:cNvGrpSpPr/>
        <p:nvPr/>
      </p:nvGrpSpPr>
      <p:grpSpPr>
        <a:xfrm>
          <a:off x="0" y="0"/>
          <a:ext cx="0" cy="0"/>
          <a:chOff x="0" y="0"/>
          <a:chExt cx="0" cy="0"/>
        </a:xfrm>
      </p:grpSpPr>
      <p:pic>
        <p:nvPicPr>
          <p:cNvPr id="5" name="Picture 4" descr="A group of women looking at a computer&#10;&#10;Description automatically generated">
            <a:extLst>
              <a:ext uri="{FF2B5EF4-FFF2-40B4-BE49-F238E27FC236}">
                <a16:creationId xmlns:a16="http://schemas.microsoft.com/office/drawing/2014/main" id="{FD60101D-D15C-8B23-546F-489FF7B89CC9}"/>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extBox 8">
            <a:extLst>
              <a:ext uri="{FF2B5EF4-FFF2-40B4-BE49-F238E27FC236}">
                <a16:creationId xmlns:a16="http://schemas.microsoft.com/office/drawing/2014/main" id="{67CCCE5D-B55F-9AED-DADC-103BB5E5180E}"/>
              </a:ext>
            </a:extLst>
          </p:cNvPr>
          <p:cNvSpPr txBox="1"/>
          <p:nvPr/>
        </p:nvSpPr>
        <p:spPr>
          <a:xfrm>
            <a:off x="893435" y="1523943"/>
            <a:ext cx="4942379" cy="707886"/>
          </a:xfrm>
          <a:prstGeom prst="rect">
            <a:avLst/>
          </a:prstGeom>
          <a:noFill/>
        </p:spPr>
        <p:txBody>
          <a:bodyPr wrap="none" rtlCol="0">
            <a:spAutoFit/>
          </a:bodyPr>
          <a:lstStyle/>
          <a:p>
            <a:r>
              <a:rPr lang="es-ES" sz="2000" dirty="0">
                <a:solidFill>
                  <a:schemeClr val="bg1"/>
                </a:solidFill>
                <a:latin typeface="Arial" panose="020B0604020202020204" pitchFamily="34" charset="0"/>
                <a:ea typeface="Roboto" panose="02000000000000000000" pitchFamily="2" charset="0"/>
                <a:cs typeface="Arial" panose="020B0604020202020204" pitchFamily="34" charset="0"/>
              </a:rPr>
              <a:t>Proyecto final del curso de Programación </a:t>
            </a:r>
          </a:p>
          <a:p>
            <a:r>
              <a:rPr lang="es-ES" sz="2000" dirty="0">
                <a:solidFill>
                  <a:schemeClr val="bg1"/>
                </a:solidFill>
                <a:latin typeface="Arial" panose="020B0604020202020204" pitchFamily="34" charset="0"/>
                <a:ea typeface="Roboto" panose="02000000000000000000" pitchFamily="2" charset="0"/>
                <a:cs typeface="Arial" panose="020B0604020202020204" pitchFamily="34" charset="0"/>
              </a:rPr>
              <a:t>Nivel Explorador.</a:t>
            </a:r>
            <a:r>
              <a:rPr lang="en-US" sz="2000" dirty="0">
                <a:solidFill>
                  <a:schemeClr val="bg1"/>
                </a:solidFill>
                <a:latin typeface="Arial" panose="020B0604020202020204" pitchFamily="34" charset="0"/>
                <a:ea typeface="Roboto" panose="02000000000000000000" pitchFamily="2" charset="0"/>
                <a:cs typeface="Arial" panose="020B0604020202020204" pitchFamily="34" charset="0"/>
              </a:rPr>
              <a:t> </a:t>
            </a:r>
          </a:p>
        </p:txBody>
      </p:sp>
      <p:sp>
        <p:nvSpPr>
          <p:cNvPr id="11" name="TextBox 10">
            <a:extLst>
              <a:ext uri="{FF2B5EF4-FFF2-40B4-BE49-F238E27FC236}">
                <a16:creationId xmlns:a16="http://schemas.microsoft.com/office/drawing/2014/main" id="{D4E64793-6608-8EE6-0E92-288652D6CA7A}"/>
              </a:ext>
            </a:extLst>
          </p:cNvPr>
          <p:cNvSpPr txBox="1"/>
          <p:nvPr/>
        </p:nvSpPr>
        <p:spPr>
          <a:xfrm>
            <a:off x="893435" y="3605944"/>
            <a:ext cx="4940455" cy="1287532"/>
          </a:xfrm>
          <a:prstGeom prst="rect">
            <a:avLst/>
          </a:prstGeom>
          <a:noFill/>
          <a:ln>
            <a:noFill/>
          </a:ln>
        </p:spPr>
        <p:txBody>
          <a:bodyPr wrap="none" rtlCol="0">
            <a:spAutoFit/>
          </a:bodyPr>
          <a:lstStyle/>
          <a:p>
            <a:pPr marL="36000">
              <a:lnSpc>
                <a:spcPct val="150000"/>
              </a:lnSpc>
            </a:pPr>
            <a:r>
              <a:rPr lang="es-ES" b="1" dirty="0">
                <a:solidFill>
                  <a:schemeClr val="bg1"/>
                </a:solidFill>
                <a:latin typeface="Arial" panose="020B0604020202020204" pitchFamily="34" charset="0"/>
                <a:ea typeface="Roboto Black" panose="02000000000000000000" pitchFamily="2" charset="0"/>
                <a:cs typeface="Arial" panose="020B0604020202020204" pitchFamily="34" charset="0"/>
              </a:rPr>
              <a:t>Exploración de costos de generación, </a:t>
            </a:r>
          </a:p>
          <a:p>
            <a:pPr marL="36000">
              <a:lnSpc>
                <a:spcPct val="150000"/>
              </a:lnSpc>
            </a:pPr>
            <a:r>
              <a:rPr lang="es-ES" b="1" dirty="0">
                <a:solidFill>
                  <a:schemeClr val="bg1"/>
                </a:solidFill>
                <a:latin typeface="Arial" panose="020B0604020202020204" pitchFamily="34" charset="0"/>
                <a:ea typeface="Roboto Black" panose="02000000000000000000" pitchFamily="2" charset="0"/>
                <a:cs typeface="Arial" panose="020B0604020202020204" pitchFamily="34" charset="0"/>
              </a:rPr>
              <a:t>distribución y comercialización de energía </a:t>
            </a:r>
          </a:p>
          <a:p>
            <a:pPr marL="36000">
              <a:lnSpc>
                <a:spcPct val="150000"/>
              </a:lnSpc>
            </a:pPr>
            <a:r>
              <a:rPr lang="es-ES" b="1" dirty="0">
                <a:solidFill>
                  <a:schemeClr val="bg1"/>
                </a:solidFill>
                <a:latin typeface="Arial" panose="020B0604020202020204" pitchFamily="34" charset="0"/>
                <a:ea typeface="Roboto Black" panose="02000000000000000000" pitchFamily="2" charset="0"/>
                <a:cs typeface="Arial" panose="020B0604020202020204" pitchFamily="34" charset="0"/>
              </a:rPr>
              <a:t>con base en datos reales del año 2023</a:t>
            </a:r>
            <a:r>
              <a:rPr lang="en-US" b="1" dirty="0">
                <a:solidFill>
                  <a:schemeClr val="bg1"/>
                </a:solidFill>
                <a:latin typeface="Arial" panose="020B0604020202020204" pitchFamily="34" charset="0"/>
                <a:ea typeface="Roboto Black" panose="02000000000000000000" pitchFamily="2" charset="0"/>
                <a:cs typeface="Arial" panose="020B0604020202020204" pitchFamily="34" charset="0"/>
              </a:rPr>
              <a:t> </a:t>
            </a:r>
          </a:p>
        </p:txBody>
      </p:sp>
      <p:pic>
        <p:nvPicPr>
          <p:cNvPr id="13" name="Graphic 12">
            <a:extLst>
              <a:ext uri="{FF2B5EF4-FFF2-40B4-BE49-F238E27FC236}">
                <a16:creationId xmlns:a16="http://schemas.microsoft.com/office/drawing/2014/main" id="{7B972161-FC61-E64E-5DBE-DC87A05D351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3435" y="3583085"/>
            <a:ext cx="2715709" cy="45719"/>
          </a:xfrm>
          <a:prstGeom prst="rect">
            <a:avLst/>
          </a:prstGeom>
        </p:spPr>
      </p:pic>
      <p:sp>
        <p:nvSpPr>
          <p:cNvPr id="2" name="TextBox 1">
            <a:extLst>
              <a:ext uri="{FF2B5EF4-FFF2-40B4-BE49-F238E27FC236}">
                <a16:creationId xmlns:a16="http://schemas.microsoft.com/office/drawing/2014/main" id="{ABE9174A-FF5A-E63E-004B-437E1EA7F83A}"/>
              </a:ext>
            </a:extLst>
          </p:cNvPr>
          <p:cNvSpPr txBox="1"/>
          <p:nvPr/>
        </p:nvSpPr>
        <p:spPr>
          <a:xfrm>
            <a:off x="893435" y="2122627"/>
            <a:ext cx="6207967" cy="1569660"/>
          </a:xfrm>
          <a:prstGeom prst="rect">
            <a:avLst/>
          </a:prstGeom>
          <a:noFill/>
          <a:ln>
            <a:noFill/>
          </a:ln>
        </p:spPr>
        <p:txBody>
          <a:bodyPr wrap="square" rtlCol="0">
            <a:spAutoFit/>
          </a:bodyPr>
          <a:lstStyle/>
          <a:p>
            <a:r>
              <a:rPr lang="es-CO" sz="4800" b="1" dirty="0">
                <a:solidFill>
                  <a:schemeClr val="bg1"/>
                </a:solidFill>
              </a:rPr>
              <a:t>SOLARBOT EJE CAFETERO</a:t>
            </a:r>
          </a:p>
        </p:txBody>
      </p:sp>
    </p:spTree>
    <p:custDataLst>
      <p:tags r:id="rId1"/>
    </p:custDataLst>
    <p:extLst>
      <p:ext uri="{BB962C8B-B14F-4D97-AF65-F5344CB8AC3E}">
        <p14:creationId xmlns:p14="http://schemas.microsoft.com/office/powerpoint/2010/main" val="1956282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3FC2DA7B-E466-2533-7FD0-4C7517D22C3A}"/>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uadroTexto 2">
            <a:extLst>
              <a:ext uri="{FF2B5EF4-FFF2-40B4-BE49-F238E27FC236}">
                <a16:creationId xmlns:a16="http://schemas.microsoft.com/office/drawing/2014/main" id="{BCB02B3E-CA97-4862-D109-DC7622B7334E}"/>
              </a:ext>
            </a:extLst>
          </p:cNvPr>
          <p:cNvSpPr txBox="1"/>
          <p:nvPr/>
        </p:nvSpPr>
        <p:spPr>
          <a:xfrm>
            <a:off x="3048681" y="529647"/>
            <a:ext cx="6094638" cy="369332"/>
          </a:xfrm>
          <a:prstGeom prst="rect">
            <a:avLst/>
          </a:prstGeom>
          <a:noFill/>
        </p:spPr>
        <p:txBody>
          <a:bodyPr wrap="square">
            <a:spAutoFit/>
          </a:bodyPr>
          <a:lstStyle/>
          <a:p>
            <a:pPr algn="ctr"/>
            <a:r>
              <a:rPr lang="es-CO" sz="1800" b="1" dirty="0">
                <a:solidFill>
                  <a:srgbClr val="A08EF1"/>
                </a:solidFill>
                <a:latin typeface="Arial" panose="020B0604020202020204" pitchFamily="34" charset="0"/>
                <a:ea typeface="Roboto Black" panose="02000000000000000000" pitchFamily="2" charset="0"/>
                <a:cs typeface="Arial" panose="020B0604020202020204" pitchFamily="34" charset="0"/>
              </a:rPr>
              <a:t>Introducción</a:t>
            </a:r>
            <a:endParaRPr lang="es-CO" dirty="0">
              <a:solidFill>
                <a:srgbClr val="A08EF1"/>
              </a:solidFill>
            </a:endParaRPr>
          </a:p>
        </p:txBody>
      </p:sp>
      <p:sp>
        <p:nvSpPr>
          <p:cNvPr id="2" name="CuadroTexto 1">
            <a:extLst>
              <a:ext uri="{FF2B5EF4-FFF2-40B4-BE49-F238E27FC236}">
                <a16:creationId xmlns:a16="http://schemas.microsoft.com/office/drawing/2014/main" id="{68CBBE1A-3BA1-4CAA-957F-4AE1F849190C}"/>
              </a:ext>
            </a:extLst>
          </p:cNvPr>
          <p:cNvSpPr txBox="1"/>
          <p:nvPr/>
        </p:nvSpPr>
        <p:spPr>
          <a:xfrm>
            <a:off x="3743439" y="898979"/>
            <a:ext cx="4705122" cy="646331"/>
          </a:xfrm>
          <a:prstGeom prst="rect">
            <a:avLst/>
          </a:prstGeom>
          <a:noFill/>
        </p:spPr>
        <p:txBody>
          <a:bodyPr wrap="square" rtlCol="0">
            <a:spAutoFit/>
          </a:bodyPr>
          <a:lstStyle/>
          <a:p>
            <a:pPr algn="ctr"/>
            <a:r>
              <a:rPr lang="es-ES" b="1" dirty="0"/>
              <a:t>Importancia del Proyecto de Chatbot Educativo Solar para el Eje Cafetero</a:t>
            </a:r>
            <a:endParaRPr lang="es-CO" b="1" dirty="0">
              <a:latin typeface="Arial" panose="020B06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id="{7F9EAC25-1C67-465B-88BC-75192499A8ED}"/>
              </a:ext>
            </a:extLst>
          </p:cNvPr>
          <p:cNvSpPr txBox="1"/>
          <p:nvPr/>
        </p:nvSpPr>
        <p:spPr>
          <a:xfrm>
            <a:off x="520700" y="2298700"/>
            <a:ext cx="3797300" cy="2585323"/>
          </a:xfrm>
          <a:prstGeom prst="rect">
            <a:avLst/>
          </a:prstGeom>
          <a:noFill/>
        </p:spPr>
        <p:txBody>
          <a:bodyPr wrap="square" rtlCol="0">
            <a:spAutoFit/>
          </a:bodyPr>
          <a:lstStyle/>
          <a:p>
            <a:pPr algn="just"/>
            <a:r>
              <a:rPr lang="es-ES" dirty="0"/>
              <a:t>Este proyecto es crucial porque cierra la brecha de conocimiento, del Eje Cafetero aprovechar un potencial solar de clase mundial, Democratizar este conocimiento mediante IA no solo mejora la rentabilidad de la comunidad y contribuye significativamente a las metas climáticas nacionales</a:t>
            </a:r>
            <a:endParaRPr lang="es-CO" dirty="0"/>
          </a:p>
        </p:txBody>
      </p:sp>
      <p:sp>
        <p:nvSpPr>
          <p:cNvPr id="7" name="AutoShape 2" descr="blob:https://web.whatsapp.com/2578f76a-eea3-4093-b34f-bfe0bc27529e">
            <a:extLst>
              <a:ext uri="{FF2B5EF4-FFF2-40B4-BE49-F238E27FC236}">
                <a16:creationId xmlns:a16="http://schemas.microsoft.com/office/drawing/2014/main" id="{BB22C221-0C52-4C9A-8E8F-87480518D9A2}"/>
              </a:ext>
            </a:extLst>
          </p:cNvPr>
          <p:cNvSpPr>
            <a:spLocks noChangeAspect="1" noChangeArrowheads="1"/>
          </p:cNvSpPr>
          <p:nvPr/>
        </p:nvSpPr>
        <p:spPr bwMode="auto">
          <a:xfrm>
            <a:off x="6807200" y="300956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aphicFrame>
        <p:nvGraphicFramePr>
          <p:cNvPr id="5" name="Tabla 4">
            <a:extLst>
              <a:ext uri="{FF2B5EF4-FFF2-40B4-BE49-F238E27FC236}">
                <a16:creationId xmlns:a16="http://schemas.microsoft.com/office/drawing/2014/main" id="{984A49F8-8673-1B09-60F6-4DAEA36C7C4A}"/>
              </a:ext>
            </a:extLst>
          </p:cNvPr>
          <p:cNvGraphicFramePr>
            <a:graphicFrameLocks noGrp="1"/>
          </p:cNvGraphicFramePr>
          <p:nvPr>
            <p:extLst>
              <p:ext uri="{D42A27DB-BD31-4B8C-83A1-F6EECF244321}">
                <p14:modId xmlns:p14="http://schemas.microsoft.com/office/powerpoint/2010/main" val="841830543"/>
              </p:ext>
            </p:extLst>
          </p:nvPr>
        </p:nvGraphicFramePr>
        <p:xfrm>
          <a:off x="4449819" y="2015067"/>
          <a:ext cx="7610361" cy="3449815"/>
        </p:xfrm>
        <a:graphic>
          <a:graphicData uri="http://schemas.openxmlformats.org/drawingml/2006/table">
            <a:tbl>
              <a:tblPr firstRow="1" firstCol="1" bandRow="1">
                <a:tableStyleId>{5C22544A-7EE6-4342-B048-85BDC9FD1C3A}</a:tableStyleId>
              </a:tblPr>
              <a:tblGrid>
                <a:gridCol w="1496930">
                  <a:extLst>
                    <a:ext uri="{9D8B030D-6E8A-4147-A177-3AD203B41FA5}">
                      <a16:colId xmlns:a16="http://schemas.microsoft.com/office/drawing/2014/main" val="1038830168"/>
                    </a:ext>
                  </a:extLst>
                </a:gridCol>
                <a:gridCol w="532651">
                  <a:extLst>
                    <a:ext uri="{9D8B030D-6E8A-4147-A177-3AD203B41FA5}">
                      <a16:colId xmlns:a16="http://schemas.microsoft.com/office/drawing/2014/main" val="2902340011"/>
                    </a:ext>
                  </a:extLst>
                </a:gridCol>
                <a:gridCol w="683400">
                  <a:extLst>
                    <a:ext uri="{9D8B030D-6E8A-4147-A177-3AD203B41FA5}">
                      <a16:colId xmlns:a16="http://schemas.microsoft.com/office/drawing/2014/main" val="537078009"/>
                    </a:ext>
                  </a:extLst>
                </a:gridCol>
                <a:gridCol w="601133">
                  <a:extLst>
                    <a:ext uri="{9D8B030D-6E8A-4147-A177-3AD203B41FA5}">
                      <a16:colId xmlns:a16="http://schemas.microsoft.com/office/drawing/2014/main" val="2181049498"/>
                    </a:ext>
                  </a:extLst>
                </a:gridCol>
                <a:gridCol w="4296247">
                  <a:extLst>
                    <a:ext uri="{9D8B030D-6E8A-4147-A177-3AD203B41FA5}">
                      <a16:colId xmlns:a16="http://schemas.microsoft.com/office/drawing/2014/main" val="2611139096"/>
                    </a:ext>
                  </a:extLst>
                </a:gridCol>
              </a:tblGrid>
              <a:tr h="176191">
                <a:tc>
                  <a:txBody>
                    <a:bodyPr/>
                    <a:lstStyle/>
                    <a:p>
                      <a:pPr>
                        <a:lnSpc>
                          <a:spcPct val="107000"/>
                        </a:lnSpc>
                        <a:spcAft>
                          <a:spcPts val="800"/>
                        </a:spcAft>
                        <a:buNone/>
                      </a:pPr>
                      <a:r>
                        <a:rPr lang="es-CO" sz="1100" b="1" kern="100" dirty="0">
                          <a:solidFill>
                            <a:schemeClr val="tx1"/>
                          </a:solidFill>
                          <a:effectLst/>
                        </a:rPr>
                        <a:t>Variable</a:t>
                      </a:r>
                      <a:endParaRPr lang="es-CO" sz="11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s-CO" sz="1100" b="1" kern="100" dirty="0">
                          <a:solidFill>
                            <a:schemeClr val="tx1"/>
                          </a:solidFill>
                          <a:effectLst/>
                        </a:rPr>
                        <a:t>Caldas</a:t>
                      </a:r>
                      <a:endParaRPr lang="es-CO" sz="11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s-CO" sz="1100" b="1" kern="100" dirty="0">
                          <a:solidFill>
                            <a:schemeClr val="tx1"/>
                          </a:solidFill>
                          <a:effectLst/>
                        </a:rPr>
                        <a:t>Risaralda</a:t>
                      </a:r>
                      <a:endParaRPr lang="es-CO" sz="11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s-CO" sz="1100" b="1" kern="100" dirty="0">
                          <a:solidFill>
                            <a:schemeClr val="tx1"/>
                          </a:solidFill>
                          <a:effectLst/>
                        </a:rPr>
                        <a:t>Quindío</a:t>
                      </a:r>
                      <a:endParaRPr lang="es-CO" sz="11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s-CO" sz="1100" b="1" kern="100" dirty="0">
                          <a:solidFill>
                            <a:schemeClr val="tx1"/>
                          </a:solidFill>
                          <a:effectLst/>
                        </a:rPr>
                        <a:t>Análisis General 2025</a:t>
                      </a:r>
                      <a:endParaRPr lang="es-CO" sz="11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9768217"/>
                  </a:ext>
                </a:extLst>
              </a:tr>
              <a:tr h="357361">
                <a:tc>
                  <a:txBody>
                    <a:bodyPr/>
                    <a:lstStyle/>
                    <a:p>
                      <a:pPr>
                        <a:lnSpc>
                          <a:spcPct val="107000"/>
                        </a:lnSpc>
                        <a:spcAft>
                          <a:spcPts val="800"/>
                        </a:spcAft>
                        <a:buNone/>
                      </a:pPr>
                      <a:r>
                        <a:rPr lang="es-CO" sz="1000" b="1" kern="100" dirty="0">
                          <a:solidFill>
                            <a:schemeClr val="tx1"/>
                          </a:solidFill>
                          <a:effectLst/>
                        </a:rPr>
                        <a:t>Radiación Solar Promedio (kWh/m²/día)</a:t>
                      </a:r>
                      <a:endParaRPr lang="es-CO" sz="10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200" kern="100" dirty="0">
                          <a:effectLst/>
                        </a:rPr>
                        <a:t>4.6</a:t>
                      </a:r>
                      <a:endParaRPr lang="es-CO"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200" kern="100" dirty="0">
                          <a:effectLst/>
                        </a:rPr>
                        <a:t>4.8</a:t>
                      </a:r>
                      <a:endParaRPr lang="es-CO"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200" kern="100" dirty="0">
                          <a:effectLst/>
                        </a:rPr>
                        <a:t>4.7</a:t>
                      </a:r>
                      <a:endParaRPr lang="es-CO"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s-CO" sz="1100" kern="100" dirty="0">
                          <a:effectLst/>
                        </a:rPr>
                        <a:t>Región con alto potencial solar, ideal para generación distribuida y techos solares.</a:t>
                      </a:r>
                      <a:endParaRPr lang="es-CO"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9626062"/>
                  </a:ext>
                </a:extLst>
              </a:tr>
              <a:tr h="346165">
                <a:tc>
                  <a:txBody>
                    <a:bodyPr/>
                    <a:lstStyle/>
                    <a:p>
                      <a:pPr>
                        <a:lnSpc>
                          <a:spcPct val="107000"/>
                        </a:lnSpc>
                        <a:spcAft>
                          <a:spcPts val="800"/>
                        </a:spcAft>
                        <a:buNone/>
                      </a:pPr>
                      <a:r>
                        <a:rPr lang="es-CO" sz="1000" b="1" kern="100" dirty="0">
                          <a:solidFill>
                            <a:schemeClr val="tx1"/>
                          </a:solidFill>
                          <a:effectLst/>
                        </a:rPr>
                        <a:t>Capacidad Instalada Solar (MW)</a:t>
                      </a:r>
                      <a:endParaRPr lang="es-CO" sz="10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000" kern="100" dirty="0">
                          <a:effectLst/>
                        </a:rPr>
                        <a:t>58</a:t>
                      </a:r>
                      <a:endParaRPr lang="es-CO"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000" kern="100" dirty="0">
                          <a:effectLst/>
                        </a:rPr>
                        <a:t>65</a:t>
                      </a:r>
                      <a:endParaRPr lang="es-CO"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000" kern="100" dirty="0">
                          <a:effectLst/>
                        </a:rPr>
                        <a:t>42</a:t>
                      </a:r>
                      <a:endParaRPr lang="es-CO"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s-CO" sz="1100" kern="100" dirty="0">
                          <a:effectLst/>
                        </a:rPr>
                        <a:t>Crecimiento del 12% respecto a 2024; mayor inversión privada en Risaralda.</a:t>
                      </a:r>
                      <a:endParaRPr lang="es-CO"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6262781"/>
                  </a:ext>
                </a:extLst>
              </a:tr>
              <a:tr h="326734">
                <a:tc>
                  <a:txBody>
                    <a:bodyPr/>
                    <a:lstStyle/>
                    <a:p>
                      <a:pPr>
                        <a:lnSpc>
                          <a:spcPct val="107000"/>
                        </a:lnSpc>
                        <a:spcAft>
                          <a:spcPts val="800"/>
                        </a:spcAft>
                        <a:buNone/>
                      </a:pPr>
                      <a:r>
                        <a:rPr lang="es-CO" sz="1000" b="1" kern="100" dirty="0">
                          <a:solidFill>
                            <a:schemeClr val="tx1"/>
                          </a:solidFill>
                          <a:effectLst/>
                        </a:rPr>
                        <a:t>Potencial Solar Aprovechable (%)</a:t>
                      </a:r>
                      <a:endParaRPr lang="es-CO" sz="10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000" kern="100">
                          <a:effectLst/>
                        </a:rPr>
                        <a:t>38%</a:t>
                      </a:r>
                      <a:endParaRPr lang="es-CO"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000" kern="100" dirty="0">
                          <a:effectLst/>
                        </a:rPr>
                        <a:t>42%</a:t>
                      </a:r>
                      <a:endParaRPr lang="es-CO"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000" kern="100" dirty="0">
                          <a:effectLst/>
                        </a:rPr>
                        <a:t>35%</a:t>
                      </a:r>
                      <a:endParaRPr lang="es-CO"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s-CO" sz="1100" kern="100" dirty="0">
                          <a:effectLst/>
                        </a:rPr>
                        <a:t>Aún existe margen de expansión, especialmente en Quindío.</a:t>
                      </a:r>
                      <a:endParaRPr lang="es-CO"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9888013"/>
                  </a:ext>
                </a:extLst>
              </a:tr>
              <a:tr h="326734">
                <a:tc>
                  <a:txBody>
                    <a:bodyPr/>
                    <a:lstStyle/>
                    <a:p>
                      <a:pPr>
                        <a:lnSpc>
                          <a:spcPct val="107000"/>
                        </a:lnSpc>
                        <a:spcAft>
                          <a:spcPts val="800"/>
                        </a:spcAft>
                        <a:buNone/>
                      </a:pPr>
                      <a:r>
                        <a:rPr lang="es-CO" sz="1000" b="1" kern="100" dirty="0">
                          <a:solidFill>
                            <a:schemeClr val="tx1"/>
                          </a:solidFill>
                          <a:effectLst/>
                        </a:rPr>
                        <a:t>Capacidad de Biomasa (MW)</a:t>
                      </a:r>
                      <a:endParaRPr lang="es-CO" sz="10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000" kern="100">
                          <a:effectLst/>
                        </a:rPr>
                        <a:t>22</a:t>
                      </a:r>
                      <a:endParaRPr lang="es-CO"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000" kern="100">
                          <a:effectLst/>
                        </a:rPr>
                        <a:t>18</a:t>
                      </a:r>
                      <a:endParaRPr lang="es-CO"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000" kern="100" dirty="0">
                          <a:effectLst/>
                        </a:rPr>
                        <a:t>12</a:t>
                      </a:r>
                      <a:endParaRPr lang="es-CO"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s-CO" sz="1100" kern="100" dirty="0">
                          <a:effectLst/>
                        </a:rPr>
                        <a:t>Alto aprovechamiento de residuos cafeteros y agrícolas.</a:t>
                      </a:r>
                      <a:endParaRPr lang="es-CO"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5799519"/>
                  </a:ext>
                </a:extLst>
              </a:tr>
              <a:tr h="326734">
                <a:tc>
                  <a:txBody>
                    <a:bodyPr/>
                    <a:lstStyle/>
                    <a:p>
                      <a:pPr>
                        <a:lnSpc>
                          <a:spcPct val="107000"/>
                        </a:lnSpc>
                        <a:spcAft>
                          <a:spcPts val="800"/>
                        </a:spcAft>
                        <a:buNone/>
                      </a:pPr>
                      <a:r>
                        <a:rPr lang="es-CO" sz="1000" b="1" kern="100" dirty="0">
                          <a:solidFill>
                            <a:schemeClr val="tx1"/>
                          </a:solidFill>
                          <a:effectLst/>
                        </a:rPr>
                        <a:t>Potencial Eólico (MW)</a:t>
                      </a:r>
                      <a:endParaRPr lang="es-CO" sz="10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000" kern="100">
                          <a:effectLst/>
                        </a:rPr>
                        <a:t>3</a:t>
                      </a:r>
                      <a:endParaRPr lang="es-CO"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000" kern="100">
                          <a:effectLst/>
                        </a:rPr>
                        <a:t>5</a:t>
                      </a:r>
                      <a:endParaRPr lang="es-CO"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000" kern="100" dirty="0">
                          <a:effectLst/>
                        </a:rPr>
                        <a:t>2</a:t>
                      </a:r>
                      <a:endParaRPr lang="es-CO"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s-CO" sz="1100" kern="100" dirty="0">
                          <a:effectLst/>
                        </a:rPr>
                        <a:t>Bajo, por topografía montañosa; proyectos experimentales.</a:t>
                      </a:r>
                      <a:endParaRPr lang="es-CO"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366121"/>
                  </a:ext>
                </a:extLst>
              </a:tr>
              <a:tr h="392214">
                <a:tc>
                  <a:txBody>
                    <a:bodyPr/>
                    <a:lstStyle/>
                    <a:p>
                      <a:pPr>
                        <a:lnSpc>
                          <a:spcPct val="107000"/>
                        </a:lnSpc>
                        <a:spcAft>
                          <a:spcPts val="800"/>
                        </a:spcAft>
                        <a:buNone/>
                      </a:pPr>
                      <a:r>
                        <a:rPr lang="es-CO" sz="1000" b="1" kern="100" dirty="0">
                          <a:solidFill>
                            <a:schemeClr val="tx1"/>
                          </a:solidFill>
                          <a:effectLst/>
                        </a:rPr>
                        <a:t>Reducción de CO₂ estimada (Ton/año)</a:t>
                      </a:r>
                      <a:endParaRPr lang="es-CO" sz="10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000" kern="100">
                          <a:effectLst/>
                        </a:rPr>
                        <a:t>41,000</a:t>
                      </a:r>
                      <a:endParaRPr lang="es-CO"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000" kern="100">
                          <a:effectLst/>
                        </a:rPr>
                        <a:t>48,500</a:t>
                      </a:r>
                      <a:endParaRPr lang="es-CO"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000" kern="100" dirty="0">
                          <a:effectLst/>
                        </a:rPr>
                        <a:t>30,200</a:t>
                      </a:r>
                      <a:endParaRPr lang="es-CO"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s-CO" sz="1100" kern="100" dirty="0">
                          <a:effectLst/>
                        </a:rPr>
                        <a:t>Las energías renovables compensan más del 15% de emisiones regionales.</a:t>
                      </a:r>
                      <a:endParaRPr lang="es-CO"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1211506"/>
                  </a:ext>
                </a:extLst>
              </a:tr>
              <a:tr h="326734">
                <a:tc>
                  <a:txBody>
                    <a:bodyPr/>
                    <a:lstStyle/>
                    <a:p>
                      <a:pPr>
                        <a:lnSpc>
                          <a:spcPct val="107000"/>
                        </a:lnSpc>
                        <a:spcAft>
                          <a:spcPts val="800"/>
                        </a:spcAft>
                        <a:buNone/>
                      </a:pPr>
                      <a:r>
                        <a:rPr lang="es-CO" sz="1000" b="1" kern="100" dirty="0">
                          <a:solidFill>
                            <a:schemeClr val="tx1"/>
                          </a:solidFill>
                          <a:effectLst/>
                        </a:rPr>
                        <a:t>Inversión en Renovables (millones USD)</a:t>
                      </a:r>
                      <a:endParaRPr lang="es-CO" sz="10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000" kern="100">
                          <a:effectLst/>
                        </a:rPr>
                        <a:t>32</a:t>
                      </a:r>
                      <a:endParaRPr lang="es-CO"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000" kern="100">
                          <a:effectLst/>
                        </a:rPr>
                        <a:t>40</a:t>
                      </a:r>
                      <a:endParaRPr lang="es-CO"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000" kern="100" dirty="0">
                          <a:effectLst/>
                        </a:rPr>
                        <a:t>22</a:t>
                      </a:r>
                      <a:endParaRPr lang="es-CO"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s-CO" sz="1100" kern="100" dirty="0">
                          <a:effectLst/>
                        </a:rPr>
                        <a:t>Aumentó 10% en 2025 por incentivos tributarios.</a:t>
                      </a:r>
                      <a:endParaRPr lang="es-CO"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2015968"/>
                  </a:ext>
                </a:extLst>
              </a:tr>
              <a:tr h="326734">
                <a:tc>
                  <a:txBody>
                    <a:bodyPr/>
                    <a:lstStyle/>
                    <a:p>
                      <a:pPr>
                        <a:lnSpc>
                          <a:spcPct val="107000"/>
                        </a:lnSpc>
                        <a:spcAft>
                          <a:spcPts val="800"/>
                        </a:spcAft>
                        <a:buNone/>
                      </a:pPr>
                      <a:r>
                        <a:rPr lang="es-CO" sz="1000" b="1" kern="100" dirty="0">
                          <a:solidFill>
                            <a:schemeClr val="tx1"/>
                          </a:solidFill>
                          <a:effectLst/>
                        </a:rPr>
                        <a:t>Impacto Social</a:t>
                      </a:r>
                      <a:endParaRPr lang="es-CO" sz="10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000" kern="100">
                          <a:effectLst/>
                        </a:rPr>
                        <a:t>Alto</a:t>
                      </a:r>
                      <a:endParaRPr lang="es-CO"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000" kern="100">
                          <a:effectLst/>
                        </a:rPr>
                        <a:t>Alto</a:t>
                      </a:r>
                      <a:endParaRPr lang="es-CO"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000" kern="100" dirty="0">
                          <a:effectLst/>
                        </a:rPr>
                        <a:t>Medio</a:t>
                      </a:r>
                      <a:endParaRPr lang="es-CO"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s-CO" sz="1100" kern="100" dirty="0">
                          <a:effectLst/>
                        </a:rPr>
                        <a:t>Más empleo en instalaciones solares y bioenergía.</a:t>
                      </a:r>
                      <a:endParaRPr lang="es-CO"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4298341"/>
                  </a:ext>
                </a:extLst>
              </a:tr>
              <a:tr h="188703">
                <a:tc>
                  <a:txBody>
                    <a:bodyPr/>
                    <a:lstStyle/>
                    <a:p>
                      <a:pPr>
                        <a:lnSpc>
                          <a:spcPct val="107000"/>
                        </a:lnSpc>
                        <a:spcAft>
                          <a:spcPts val="800"/>
                        </a:spcAft>
                        <a:buNone/>
                      </a:pPr>
                      <a:r>
                        <a:rPr lang="es-CO" sz="1000" b="1" kern="100" dirty="0">
                          <a:solidFill>
                            <a:schemeClr val="tx1"/>
                          </a:solidFill>
                          <a:effectLst/>
                        </a:rPr>
                        <a:t>Impacto Ambiental</a:t>
                      </a:r>
                      <a:endParaRPr lang="es-CO" sz="10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000" kern="100">
                          <a:effectLst/>
                        </a:rPr>
                        <a:t>Positivo</a:t>
                      </a:r>
                      <a:endParaRPr lang="es-CO"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000" kern="100">
                          <a:effectLst/>
                        </a:rPr>
                        <a:t>Positivo</a:t>
                      </a:r>
                      <a:endParaRPr lang="es-CO"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000" kern="100" dirty="0">
                          <a:effectLst/>
                        </a:rPr>
                        <a:t>Positivo</a:t>
                      </a:r>
                      <a:endParaRPr lang="es-CO"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s-CO" sz="1100" kern="100" dirty="0">
                          <a:effectLst/>
                        </a:rPr>
                        <a:t>Reducción en uso de combustibles fósiles y mejora en calidad del aire.</a:t>
                      </a:r>
                      <a:endParaRPr lang="es-CO"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1621591"/>
                  </a:ext>
                </a:extLst>
              </a:tr>
              <a:tr h="347134">
                <a:tc>
                  <a:txBody>
                    <a:bodyPr/>
                    <a:lstStyle/>
                    <a:p>
                      <a:pPr>
                        <a:lnSpc>
                          <a:spcPct val="107000"/>
                        </a:lnSpc>
                        <a:spcAft>
                          <a:spcPts val="800"/>
                        </a:spcAft>
                        <a:buNone/>
                      </a:pPr>
                      <a:r>
                        <a:rPr lang="es-CO" sz="1000" b="1" kern="100" dirty="0">
                          <a:solidFill>
                            <a:schemeClr val="tx1"/>
                          </a:solidFill>
                          <a:effectLst/>
                        </a:rPr>
                        <a:t>Índice de Sostenibilidad Energética (0–100)</a:t>
                      </a:r>
                      <a:endParaRPr lang="es-CO" sz="10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000" kern="100">
                          <a:effectLst/>
                        </a:rPr>
                        <a:t>72</a:t>
                      </a:r>
                      <a:endParaRPr lang="es-CO"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000" kern="100" dirty="0">
                          <a:effectLst/>
                        </a:rPr>
                        <a:t>78</a:t>
                      </a:r>
                      <a:endParaRPr lang="es-CO"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buNone/>
                      </a:pPr>
                      <a:r>
                        <a:rPr lang="es-CO" sz="1000" kern="100" dirty="0">
                          <a:effectLst/>
                        </a:rPr>
                        <a:t>70</a:t>
                      </a:r>
                      <a:endParaRPr lang="es-CO"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s-CO" sz="1100" kern="100" dirty="0">
                          <a:effectLst/>
                        </a:rPr>
                        <a:t>El Eje Cafetero se posiciona como referente nacional en transición energética.</a:t>
                      </a:r>
                      <a:endParaRPr lang="es-CO"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202" marR="652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6450618"/>
                  </a:ext>
                </a:extLst>
              </a:tr>
            </a:tbl>
          </a:graphicData>
        </a:graphic>
      </p:graphicFrame>
      <p:pic>
        <p:nvPicPr>
          <p:cNvPr id="8" name="Imagen 7">
            <a:extLst>
              <a:ext uri="{FF2B5EF4-FFF2-40B4-BE49-F238E27FC236}">
                <a16:creationId xmlns:a16="http://schemas.microsoft.com/office/drawing/2014/main" id="{5CA83AD3-68F5-C360-ADAB-375A2EA5C1DF}"/>
              </a:ext>
            </a:extLst>
          </p:cNvPr>
          <p:cNvPicPr>
            <a:picLocks noChangeAspect="1"/>
          </p:cNvPicPr>
          <p:nvPr/>
        </p:nvPicPr>
        <p:blipFill rotWithShape="1">
          <a:blip r:embed="rId4">
            <a:extLst>
              <a:ext uri="{28A0092B-C50C-407E-A947-70E740481C1C}">
                <a14:useLocalDpi xmlns:a14="http://schemas.microsoft.com/office/drawing/2010/main" val="0"/>
              </a:ext>
            </a:extLst>
          </a:blip>
          <a:srcRect l="17123" r="12490" b="24214"/>
          <a:stretch>
            <a:fillRect/>
          </a:stretch>
        </p:blipFill>
        <p:spPr bwMode="auto">
          <a:xfrm>
            <a:off x="8698135" y="212252"/>
            <a:ext cx="1313016" cy="1590564"/>
          </a:xfrm>
          <a:prstGeom prst="rect">
            <a:avLst/>
          </a:prstGeom>
          <a:noFill/>
          <a:ln>
            <a:noFill/>
          </a:ln>
          <a:extLst>
            <a:ext uri="{53640926-AAD7-44D8-BBD7-CCE9431645EC}">
              <a14:shadowObscured xmlns:a14="http://schemas.microsoft.com/office/drawing/2010/main"/>
            </a:ext>
          </a:extLst>
        </p:spPr>
      </p:pic>
    </p:spTree>
    <p:custDataLst>
      <p:tags r:id="rId1"/>
    </p:custDataLst>
    <p:extLst>
      <p:ext uri="{BB962C8B-B14F-4D97-AF65-F5344CB8AC3E}">
        <p14:creationId xmlns:p14="http://schemas.microsoft.com/office/powerpoint/2010/main" val="4034352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AF2DF-DA57-93DB-D07B-980B5319D8E7}"/>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335C4E73-6F6E-88B7-D1DC-C91A1B5975E5}"/>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uadroTexto 2">
            <a:extLst>
              <a:ext uri="{FF2B5EF4-FFF2-40B4-BE49-F238E27FC236}">
                <a16:creationId xmlns:a16="http://schemas.microsoft.com/office/drawing/2014/main" id="{99F64620-9646-EA2C-621A-216D586FE649}"/>
              </a:ext>
            </a:extLst>
          </p:cNvPr>
          <p:cNvSpPr txBox="1"/>
          <p:nvPr/>
        </p:nvSpPr>
        <p:spPr>
          <a:xfrm>
            <a:off x="3048681" y="279791"/>
            <a:ext cx="6094638" cy="369332"/>
          </a:xfrm>
          <a:prstGeom prst="rect">
            <a:avLst/>
          </a:prstGeom>
          <a:noFill/>
        </p:spPr>
        <p:txBody>
          <a:bodyPr wrap="square">
            <a:spAutoFit/>
          </a:bodyPr>
          <a:lstStyle/>
          <a:p>
            <a:pPr algn="ctr"/>
            <a:r>
              <a:rPr lang="en-US" sz="1800" b="1" dirty="0">
                <a:solidFill>
                  <a:srgbClr val="A08EF1"/>
                </a:solidFill>
                <a:latin typeface="Arial" panose="020B0604020202020204" pitchFamily="34" charset="0"/>
                <a:ea typeface="Roboto Black" panose="02000000000000000000" pitchFamily="2" charset="0"/>
                <a:cs typeface="Arial" panose="020B0604020202020204" pitchFamily="34" charset="0"/>
              </a:rPr>
              <a:t>Planteamiento del problema</a:t>
            </a:r>
            <a:endParaRPr lang="es-CO" dirty="0">
              <a:solidFill>
                <a:srgbClr val="A08EF1"/>
              </a:solidFill>
            </a:endParaRPr>
          </a:p>
        </p:txBody>
      </p:sp>
      <p:sp>
        <p:nvSpPr>
          <p:cNvPr id="2" name="Rectángulo 1">
            <a:extLst>
              <a:ext uri="{FF2B5EF4-FFF2-40B4-BE49-F238E27FC236}">
                <a16:creationId xmlns:a16="http://schemas.microsoft.com/office/drawing/2014/main" id="{0495E785-D743-4C03-886C-B7101DEA91D5}"/>
              </a:ext>
            </a:extLst>
          </p:cNvPr>
          <p:cNvSpPr/>
          <p:nvPr/>
        </p:nvSpPr>
        <p:spPr>
          <a:xfrm>
            <a:off x="889000" y="902983"/>
            <a:ext cx="5942652" cy="369332"/>
          </a:xfrm>
          <a:prstGeom prst="rect">
            <a:avLst/>
          </a:prstGeom>
        </p:spPr>
        <p:txBody>
          <a:bodyPr wrap="none">
            <a:spAutoFit/>
          </a:bodyPr>
          <a:lstStyle/>
          <a:p>
            <a:r>
              <a:rPr lang="es-ES" dirty="0">
                <a:latin typeface="Arial" panose="020B0604020202020204" pitchFamily="34" charset="0"/>
                <a:cs typeface="Arial" panose="020B0604020202020204" pitchFamily="34" charset="0"/>
              </a:rPr>
              <a:t>¿Por qué es importante analizar los costos energéticos?</a:t>
            </a:r>
            <a:endParaRPr lang="es-CO" dirty="0">
              <a:latin typeface="Arial" panose="020B0604020202020204" pitchFamily="34" charset="0"/>
              <a:cs typeface="Arial" panose="020B0604020202020204" pitchFamily="34" charset="0"/>
            </a:endParaRPr>
          </a:p>
        </p:txBody>
      </p:sp>
      <p:pic>
        <p:nvPicPr>
          <p:cNvPr id="7" name="Imagen 6">
            <a:extLst>
              <a:ext uri="{FF2B5EF4-FFF2-40B4-BE49-F238E27FC236}">
                <a16:creationId xmlns:a16="http://schemas.microsoft.com/office/drawing/2014/main" id="{E7C2296D-18A9-4775-AD87-5A5CA0D5AB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9717" y="2275796"/>
            <a:ext cx="7113509" cy="3679221"/>
          </a:xfrm>
          <a:prstGeom prst="rect">
            <a:avLst/>
          </a:prstGeom>
        </p:spPr>
      </p:pic>
      <p:sp>
        <p:nvSpPr>
          <p:cNvPr id="4" name="Rectángulo 3">
            <a:extLst>
              <a:ext uri="{FF2B5EF4-FFF2-40B4-BE49-F238E27FC236}">
                <a16:creationId xmlns:a16="http://schemas.microsoft.com/office/drawing/2014/main" id="{409B34FE-8A38-429C-8FD6-189E13438910}"/>
              </a:ext>
            </a:extLst>
          </p:cNvPr>
          <p:cNvSpPr/>
          <p:nvPr/>
        </p:nvSpPr>
        <p:spPr>
          <a:xfrm>
            <a:off x="3860326" y="1346208"/>
            <a:ext cx="8254319" cy="1200329"/>
          </a:xfrm>
          <a:prstGeom prst="rect">
            <a:avLst/>
          </a:prstGeom>
        </p:spPr>
        <p:txBody>
          <a:bodyPr wrap="square">
            <a:spAutoFit/>
          </a:bodyPr>
          <a:lstStyle/>
          <a:p>
            <a:pPr algn="r"/>
            <a:r>
              <a:rPr lang="es-ES" dirty="0">
                <a:latin typeface="Arial" panose="020B0604020202020204" pitchFamily="34" charset="0"/>
                <a:cs typeface="Arial" panose="020B0604020202020204" pitchFamily="34" charset="0"/>
              </a:rPr>
              <a:t>La variabilidad en los costos de generación, distribución y comercialización puede afectar significativamente la economía y el acceso de la población a la energía. Analizar estos datos permite mejorar la eficiencia del sistema y proponer mejoras regulatorias o técnicas.</a:t>
            </a:r>
            <a:endParaRPr lang="es-CO"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55618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EFE67-4F5E-0909-9C28-EB473BE9A32D}"/>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44E1B251-CEDE-72F4-F613-FF70BF87AC25}"/>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uadroTexto 2">
            <a:extLst>
              <a:ext uri="{FF2B5EF4-FFF2-40B4-BE49-F238E27FC236}">
                <a16:creationId xmlns:a16="http://schemas.microsoft.com/office/drawing/2014/main" id="{2C1E3DBD-1757-E5D1-BE51-98E58E6B8425}"/>
              </a:ext>
            </a:extLst>
          </p:cNvPr>
          <p:cNvSpPr txBox="1"/>
          <p:nvPr/>
        </p:nvSpPr>
        <p:spPr>
          <a:xfrm>
            <a:off x="3048681" y="241691"/>
            <a:ext cx="6094638" cy="369332"/>
          </a:xfrm>
          <a:prstGeom prst="rect">
            <a:avLst/>
          </a:prstGeom>
          <a:noFill/>
        </p:spPr>
        <p:txBody>
          <a:bodyPr wrap="square">
            <a:spAutoFit/>
          </a:bodyPr>
          <a:lstStyle/>
          <a:p>
            <a:pPr algn="ctr"/>
            <a:r>
              <a:rPr lang="es-ES" sz="1800" b="1" dirty="0">
                <a:solidFill>
                  <a:srgbClr val="A08EF1"/>
                </a:solidFill>
                <a:latin typeface="Arial" panose="020B0604020202020204" pitchFamily="34" charset="0"/>
                <a:ea typeface="Roboto Black" panose="02000000000000000000" pitchFamily="2" charset="0"/>
                <a:cs typeface="Arial" panose="020B0604020202020204" pitchFamily="34" charset="0"/>
              </a:rPr>
              <a:t>objetivo general y objetivos específicos </a:t>
            </a:r>
            <a:endParaRPr lang="es-CO" dirty="0">
              <a:solidFill>
                <a:srgbClr val="A08EF1"/>
              </a:solidFill>
            </a:endParaRPr>
          </a:p>
        </p:txBody>
      </p:sp>
      <p:sp>
        <p:nvSpPr>
          <p:cNvPr id="4" name="Rectángulo 3">
            <a:extLst>
              <a:ext uri="{FF2B5EF4-FFF2-40B4-BE49-F238E27FC236}">
                <a16:creationId xmlns:a16="http://schemas.microsoft.com/office/drawing/2014/main" id="{EA1F9C05-67DF-4FCF-8D01-040D27CD3B1F}"/>
              </a:ext>
            </a:extLst>
          </p:cNvPr>
          <p:cNvSpPr/>
          <p:nvPr/>
        </p:nvSpPr>
        <p:spPr>
          <a:xfrm>
            <a:off x="6007100" y="1674674"/>
            <a:ext cx="6096000" cy="1754326"/>
          </a:xfrm>
          <a:prstGeom prst="rect">
            <a:avLst/>
          </a:prstGeom>
        </p:spPr>
        <p:txBody>
          <a:bodyPr>
            <a:spAutoFit/>
          </a:bodyPr>
          <a:lstStyle/>
          <a:p>
            <a:r>
              <a:rPr lang="es-ES" b="1" dirty="0">
                <a:latin typeface="Arial" panose="020B0604020202020204" pitchFamily="34" charset="0"/>
                <a:cs typeface="Arial" panose="020B0604020202020204" pitchFamily="34" charset="0"/>
              </a:rPr>
              <a:t>Objetivos específicos:</a:t>
            </a:r>
            <a:endParaRPr lang="es-ES" dirty="0">
              <a:latin typeface="Arial" panose="020B0604020202020204" pitchFamily="34" charset="0"/>
              <a:cs typeface="Arial" panose="020B0604020202020204" pitchFamily="34" charset="0"/>
            </a:endParaRPr>
          </a:p>
          <a:p>
            <a:pPr>
              <a:buFont typeface="Arial" panose="020B0604020202020204" pitchFamily="34" charset="0"/>
              <a:buChar char="•"/>
            </a:pPr>
            <a:r>
              <a:rPr lang="es-ES" dirty="0">
                <a:latin typeface="Arial" panose="020B0604020202020204" pitchFamily="34" charset="0"/>
                <a:cs typeface="Arial" panose="020B0604020202020204" pitchFamily="34" charset="0"/>
              </a:rPr>
              <a:t>Limpiar y preparar los datos de costos energéticos.</a:t>
            </a:r>
          </a:p>
          <a:p>
            <a:pPr>
              <a:buFont typeface="Arial" panose="020B0604020202020204" pitchFamily="34" charset="0"/>
              <a:buChar char="•"/>
            </a:pPr>
            <a:r>
              <a:rPr lang="es-ES" dirty="0">
                <a:latin typeface="Arial" panose="020B0604020202020204" pitchFamily="34" charset="0"/>
                <a:cs typeface="Arial" panose="020B0604020202020204" pitchFamily="34" charset="0"/>
              </a:rPr>
              <a:t>Realizar un análisis exploratorio detallado.</a:t>
            </a:r>
          </a:p>
          <a:p>
            <a:pPr>
              <a:buFont typeface="Arial" panose="020B0604020202020204" pitchFamily="34" charset="0"/>
              <a:buChar char="•"/>
            </a:pPr>
            <a:r>
              <a:rPr lang="es-ES" dirty="0">
                <a:latin typeface="Arial" panose="020B0604020202020204" pitchFamily="34" charset="0"/>
                <a:cs typeface="Arial" panose="020B0604020202020204" pitchFamily="34" charset="0"/>
              </a:rPr>
              <a:t>Detectar valores atípicos con técnicas estadísticas (IQR).</a:t>
            </a:r>
          </a:p>
          <a:p>
            <a:pPr>
              <a:buFont typeface="Arial" panose="020B0604020202020204" pitchFamily="34" charset="0"/>
              <a:buChar char="•"/>
            </a:pPr>
            <a:r>
              <a:rPr lang="es-ES" dirty="0">
                <a:latin typeface="Arial" panose="020B0604020202020204" pitchFamily="34" charset="0"/>
                <a:cs typeface="Arial" panose="020B0604020202020204" pitchFamily="34" charset="0"/>
              </a:rPr>
              <a:t>Identificar correlaciones entre las variables.</a:t>
            </a:r>
          </a:p>
          <a:p>
            <a:pPr>
              <a:buFont typeface="Arial" panose="020B0604020202020204" pitchFamily="34" charset="0"/>
              <a:buChar char="•"/>
            </a:pPr>
            <a:r>
              <a:rPr lang="es-ES" dirty="0">
                <a:latin typeface="Arial" panose="020B0604020202020204" pitchFamily="34" charset="0"/>
                <a:cs typeface="Arial" panose="020B0604020202020204" pitchFamily="34" charset="0"/>
              </a:rPr>
              <a:t>Proponer recomendaciones basadas en los hallazgos.</a:t>
            </a:r>
          </a:p>
        </p:txBody>
      </p:sp>
      <p:sp>
        <p:nvSpPr>
          <p:cNvPr id="5" name="Rectángulo 4">
            <a:extLst>
              <a:ext uri="{FF2B5EF4-FFF2-40B4-BE49-F238E27FC236}">
                <a16:creationId xmlns:a16="http://schemas.microsoft.com/office/drawing/2014/main" id="{11897B3D-C775-45C6-AEB1-562DED70509C}"/>
              </a:ext>
            </a:extLst>
          </p:cNvPr>
          <p:cNvSpPr/>
          <p:nvPr/>
        </p:nvSpPr>
        <p:spPr>
          <a:xfrm>
            <a:off x="177800" y="1674674"/>
            <a:ext cx="6096000" cy="1200329"/>
          </a:xfrm>
          <a:prstGeom prst="rect">
            <a:avLst/>
          </a:prstGeom>
        </p:spPr>
        <p:txBody>
          <a:bodyPr>
            <a:spAutoFit/>
          </a:bodyPr>
          <a:lstStyle/>
          <a:p>
            <a:r>
              <a:rPr lang="es-ES" b="1" dirty="0">
                <a:latin typeface="Arial" panose="020B0604020202020204" pitchFamily="34" charset="0"/>
                <a:cs typeface="Arial" panose="020B0604020202020204" pitchFamily="34" charset="0"/>
              </a:rPr>
              <a:t>Objetivo general:</a:t>
            </a:r>
            <a:br>
              <a:rPr lang="es-ES" dirty="0">
                <a:latin typeface="Arial" panose="020B0604020202020204" pitchFamily="34" charset="0"/>
                <a:cs typeface="Arial" panose="020B0604020202020204" pitchFamily="34" charset="0"/>
              </a:rPr>
            </a:br>
            <a:r>
              <a:rPr lang="es-ES" dirty="0">
                <a:latin typeface="Arial" panose="020B0604020202020204" pitchFamily="34" charset="0"/>
                <a:cs typeface="Arial" panose="020B0604020202020204" pitchFamily="34" charset="0"/>
              </a:rPr>
              <a:t>Analizar los costos energéticos registrados en 2023 para detectar tendencias, valores atípicos y relaciones relevantes entre sus componentes.</a:t>
            </a:r>
          </a:p>
        </p:txBody>
      </p:sp>
    </p:spTree>
    <p:custDataLst>
      <p:tags r:id="rId1"/>
    </p:custDataLst>
    <p:extLst>
      <p:ext uri="{BB962C8B-B14F-4D97-AF65-F5344CB8AC3E}">
        <p14:creationId xmlns:p14="http://schemas.microsoft.com/office/powerpoint/2010/main" val="3329013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3A271-E6EB-E4A1-2189-AE784C418E2C}"/>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300A7F80-B567-0B64-10DD-C7F38A46CC9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uadroTexto 2">
            <a:extLst>
              <a:ext uri="{FF2B5EF4-FFF2-40B4-BE49-F238E27FC236}">
                <a16:creationId xmlns:a16="http://schemas.microsoft.com/office/drawing/2014/main" id="{E90B4249-ED04-0453-12F1-E21CFD129839}"/>
              </a:ext>
            </a:extLst>
          </p:cNvPr>
          <p:cNvSpPr txBox="1"/>
          <p:nvPr/>
        </p:nvSpPr>
        <p:spPr>
          <a:xfrm>
            <a:off x="1098778" y="982517"/>
            <a:ext cx="6094638" cy="369332"/>
          </a:xfrm>
          <a:prstGeom prst="rect">
            <a:avLst/>
          </a:prstGeom>
          <a:noFill/>
        </p:spPr>
        <p:txBody>
          <a:bodyPr wrap="square">
            <a:spAutoFit/>
          </a:bodyPr>
          <a:lstStyle/>
          <a:p>
            <a:r>
              <a:rPr lang="en-US" sz="1800" b="1" dirty="0" err="1">
                <a:solidFill>
                  <a:srgbClr val="A08EF1"/>
                </a:solidFill>
                <a:latin typeface="Arial" panose="020B0604020202020204" pitchFamily="34" charset="0"/>
                <a:ea typeface="Roboto Black" panose="02000000000000000000" pitchFamily="2" charset="0"/>
                <a:cs typeface="Arial" panose="020B0604020202020204" pitchFamily="34" charset="0"/>
              </a:rPr>
              <a:t>justificación</a:t>
            </a:r>
            <a:r>
              <a:rPr lang="en-US" sz="1800" b="1" dirty="0">
                <a:solidFill>
                  <a:srgbClr val="A08EF1"/>
                </a:solidFill>
                <a:latin typeface="Arial" panose="020B0604020202020204" pitchFamily="34" charset="0"/>
                <a:ea typeface="Roboto Black" panose="02000000000000000000" pitchFamily="2" charset="0"/>
                <a:cs typeface="Arial" panose="020B0604020202020204" pitchFamily="34" charset="0"/>
              </a:rPr>
              <a:t> </a:t>
            </a:r>
            <a:endParaRPr lang="es-CO" dirty="0">
              <a:solidFill>
                <a:srgbClr val="A08EF1"/>
              </a:solidFill>
            </a:endParaRPr>
          </a:p>
        </p:txBody>
      </p:sp>
      <p:sp>
        <p:nvSpPr>
          <p:cNvPr id="2" name="Rectángulo 1">
            <a:extLst>
              <a:ext uri="{FF2B5EF4-FFF2-40B4-BE49-F238E27FC236}">
                <a16:creationId xmlns:a16="http://schemas.microsoft.com/office/drawing/2014/main" id="{AAEA9A76-D495-4A0D-AE5A-1E20DC650965}"/>
              </a:ext>
            </a:extLst>
          </p:cNvPr>
          <p:cNvSpPr/>
          <p:nvPr/>
        </p:nvSpPr>
        <p:spPr>
          <a:xfrm>
            <a:off x="548708" y="1351849"/>
            <a:ext cx="6096000" cy="1477328"/>
          </a:xfrm>
          <a:prstGeom prst="rect">
            <a:avLst/>
          </a:prstGeom>
        </p:spPr>
        <p:txBody>
          <a:bodyPr>
            <a:spAutoFit/>
          </a:bodyPr>
          <a:lstStyle/>
          <a:p>
            <a:r>
              <a:rPr lang="es-ES" dirty="0">
                <a:latin typeface="Arial" panose="020B0604020202020204" pitchFamily="34" charset="0"/>
                <a:cs typeface="Arial" panose="020B0604020202020204" pitchFamily="34" charset="0"/>
              </a:rPr>
              <a:t>Este tipo de análisis permite a las entidades reguladoras y empresas del sector energético comprender mejor la dinámica de costos y tomar decisiones informadas para mejorar la eficiencia en la prestación del servicio energético.</a:t>
            </a:r>
            <a:endParaRPr lang="es-CO" dirty="0">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049B8E8D-ECB1-44B8-89BE-F4ABB8A98E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92487" y="2500331"/>
            <a:ext cx="6950805" cy="3572082"/>
          </a:xfrm>
          <a:prstGeom prst="rect">
            <a:avLst/>
          </a:prstGeom>
        </p:spPr>
      </p:pic>
    </p:spTree>
    <p:custDataLst>
      <p:tags r:id="rId1"/>
    </p:custDataLst>
    <p:extLst>
      <p:ext uri="{BB962C8B-B14F-4D97-AF65-F5344CB8AC3E}">
        <p14:creationId xmlns:p14="http://schemas.microsoft.com/office/powerpoint/2010/main" val="710650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B80B5-2D50-D588-FF85-222A1584F2C4}"/>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6DF00DD1-178D-79C7-2D5A-88370873C5D5}"/>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uadroTexto 2">
            <a:extLst>
              <a:ext uri="{FF2B5EF4-FFF2-40B4-BE49-F238E27FC236}">
                <a16:creationId xmlns:a16="http://schemas.microsoft.com/office/drawing/2014/main" id="{57825AD2-7E66-AF76-EDDC-F3A503436B7A}"/>
              </a:ext>
            </a:extLst>
          </p:cNvPr>
          <p:cNvSpPr txBox="1"/>
          <p:nvPr/>
        </p:nvSpPr>
        <p:spPr>
          <a:xfrm>
            <a:off x="1025667" y="877675"/>
            <a:ext cx="6094638" cy="369332"/>
          </a:xfrm>
          <a:prstGeom prst="rect">
            <a:avLst/>
          </a:prstGeom>
          <a:noFill/>
        </p:spPr>
        <p:txBody>
          <a:bodyPr wrap="square">
            <a:spAutoFit/>
          </a:bodyPr>
          <a:lstStyle/>
          <a:p>
            <a:r>
              <a:rPr lang="en-US" sz="1800" b="1" dirty="0" err="1">
                <a:solidFill>
                  <a:srgbClr val="A08EF1"/>
                </a:solidFill>
                <a:latin typeface="Arial" panose="020B0604020202020204" pitchFamily="34" charset="0"/>
                <a:ea typeface="Roboto Black" panose="02000000000000000000" pitchFamily="2" charset="0"/>
                <a:cs typeface="Arial" panose="020B0604020202020204" pitchFamily="34" charset="0"/>
              </a:rPr>
              <a:t>Alcance</a:t>
            </a:r>
            <a:r>
              <a:rPr lang="en-US" sz="1800" b="1" dirty="0">
                <a:solidFill>
                  <a:srgbClr val="A08EF1"/>
                </a:solidFill>
                <a:latin typeface="Arial" panose="020B0604020202020204" pitchFamily="34" charset="0"/>
                <a:ea typeface="Roboto Black" panose="02000000000000000000" pitchFamily="2" charset="0"/>
                <a:cs typeface="Arial" panose="020B0604020202020204" pitchFamily="34" charset="0"/>
              </a:rPr>
              <a:t> </a:t>
            </a:r>
            <a:endParaRPr lang="es-CO" dirty="0">
              <a:solidFill>
                <a:srgbClr val="A08EF1"/>
              </a:solidFill>
            </a:endParaRPr>
          </a:p>
        </p:txBody>
      </p:sp>
      <p:pic>
        <p:nvPicPr>
          <p:cNvPr id="5" name="Imagen 4">
            <a:extLst>
              <a:ext uri="{FF2B5EF4-FFF2-40B4-BE49-F238E27FC236}">
                <a16:creationId xmlns:a16="http://schemas.microsoft.com/office/drawing/2014/main" id="{538C31EF-13A1-4603-BEE5-51DEB4801A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52367" y="1456773"/>
            <a:ext cx="8287265" cy="4277102"/>
          </a:xfrm>
          <a:prstGeom prst="rect">
            <a:avLst/>
          </a:prstGeom>
        </p:spPr>
      </p:pic>
    </p:spTree>
    <p:custDataLst>
      <p:tags r:id="rId1"/>
    </p:custDataLst>
    <p:extLst>
      <p:ext uri="{BB962C8B-B14F-4D97-AF65-F5344CB8AC3E}">
        <p14:creationId xmlns:p14="http://schemas.microsoft.com/office/powerpoint/2010/main" val="1363597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1C4EF-A4A0-3131-700D-7965270C080C}"/>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13EA17F8-F3F4-B2AE-7386-DB54197F58E7}"/>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uadroTexto 2">
            <a:extLst>
              <a:ext uri="{FF2B5EF4-FFF2-40B4-BE49-F238E27FC236}">
                <a16:creationId xmlns:a16="http://schemas.microsoft.com/office/drawing/2014/main" id="{4DEF252C-A8DC-BFEC-56E3-730216CC02B6}"/>
              </a:ext>
            </a:extLst>
          </p:cNvPr>
          <p:cNvSpPr txBox="1"/>
          <p:nvPr/>
        </p:nvSpPr>
        <p:spPr>
          <a:xfrm>
            <a:off x="3048681" y="246497"/>
            <a:ext cx="6094638" cy="369332"/>
          </a:xfrm>
          <a:prstGeom prst="rect">
            <a:avLst/>
          </a:prstGeom>
          <a:noFill/>
        </p:spPr>
        <p:txBody>
          <a:bodyPr wrap="square">
            <a:spAutoFit/>
          </a:bodyPr>
          <a:lstStyle/>
          <a:p>
            <a:pPr algn="ctr"/>
            <a:r>
              <a:rPr lang="es-ES" sz="1800" b="1" dirty="0">
                <a:solidFill>
                  <a:srgbClr val="A08EF1"/>
                </a:solidFill>
                <a:latin typeface="Arial" panose="020B0604020202020204" pitchFamily="34" charset="0"/>
                <a:ea typeface="Roboto Black" panose="02000000000000000000" pitchFamily="2" charset="0"/>
                <a:cs typeface="Arial" panose="020B0604020202020204" pitchFamily="34" charset="0"/>
              </a:rPr>
              <a:t>Metodología</a:t>
            </a:r>
          </a:p>
        </p:txBody>
      </p:sp>
      <p:sp>
        <p:nvSpPr>
          <p:cNvPr id="7" name="CuadroTexto 6">
            <a:extLst>
              <a:ext uri="{FF2B5EF4-FFF2-40B4-BE49-F238E27FC236}">
                <a16:creationId xmlns:a16="http://schemas.microsoft.com/office/drawing/2014/main" id="{4A852FA3-26BF-46A1-87BE-79B519717623}"/>
              </a:ext>
            </a:extLst>
          </p:cNvPr>
          <p:cNvSpPr txBox="1"/>
          <p:nvPr/>
        </p:nvSpPr>
        <p:spPr>
          <a:xfrm>
            <a:off x="827902" y="744137"/>
            <a:ext cx="9428206" cy="5078313"/>
          </a:xfrm>
          <a:prstGeom prst="rect">
            <a:avLst/>
          </a:prstGeom>
          <a:noFill/>
        </p:spPr>
        <p:txBody>
          <a:bodyPr wrap="square" rtlCol="0">
            <a:spAutoFit/>
          </a:bodyPr>
          <a:lstStyle/>
          <a:p>
            <a:pPr marL="342900" indent="-342900">
              <a:buFont typeface="+mj-lt"/>
              <a:buAutoNum type="arabicPeriod"/>
            </a:pPr>
            <a:r>
              <a:rPr lang="es-ES" dirty="0"/>
              <a:t>Flujograma:</a:t>
            </a:r>
          </a:p>
          <a:p>
            <a:pPr marL="285750" indent="-285750">
              <a:buFont typeface="Arial" panose="020B0604020202020204" pitchFamily="34" charset="0"/>
              <a:buChar char="•"/>
            </a:pPr>
            <a:r>
              <a:rPr lang="es-ES" dirty="0"/>
              <a:t>Importación de datos</a:t>
            </a:r>
          </a:p>
          <a:p>
            <a:pPr marL="285750" indent="-285750">
              <a:buFont typeface="Arial" panose="020B0604020202020204" pitchFamily="34" charset="0"/>
              <a:buChar char="•"/>
            </a:pPr>
            <a:r>
              <a:rPr lang="es-ES" dirty="0"/>
              <a:t>Limpieza</a:t>
            </a:r>
          </a:p>
          <a:p>
            <a:pPr marL="285750" indent="-285750">
              <a:buFont typeface="Arial" panose="020B0604020202020204" pitchFamily="34" charset="0"/>
              <a:buChar char="•"/>
            </a:pPr>
            <a:r>
              <a:rPr lang="es-ES" dirty="0"/>
              <a:t>Exploración</a:t>
            </a:r>
          </a:p>
          <a:p>
            <a:pPr marL="285750" indent="-285750">
              <a:buFont typeface="Arial" panose="020B0604020202020204" pitchFamily="34" charset="0"/>
              <a:buChar char="•"/>
            </a:pPr>
            <a:r>
              <a:rPr lang="es-ES" dirty="0"/>
              <a:t>Visualización</a:t>
            </a:r>
          </a:p>
          <a:p>
            <a:pPr marL="285750" indent="-285750">
              <a:buFont typeface="Arial" panose="020B0604020202020204" pitchFamily="34" charset="0"/>
              <a:buChar char="•"/>
            </a:pPr>
            <a:r>
              <a:rPr lang="es-ES" dirty="0"/>
              <a:t>Análisis y Conclusión</a:t>
            </a:r>
          </a:p>
          <a:p>
            <a:endParaRPr lang="es-ES" dirty="0"/>
          </a:p>
          <a:p>
            <a:r>
              <a:rPr lang="es-ES" dirty="0"/>
              <a:t>2.   Variables cuantitativas: </a:t>
            </a:r>
          </a:p>
          <a:p>
            <a:r>
              <a:rPr lang="es-ES" dirty="0"/>
              <a:t>Costo Generación, Costo Distribución, Costo Comercialización, Costo Unitario.</a:t>
            </a:r>
          </a:p>
          <a:p>
            <a:endParaRPr lang="es-ES" dirty="0"/>
          </a:p>
          <a:p>
            <a:r>
              <a:rPr lang="es-ES" dirty="0"/>
              <a:t>3.   Análisis exploratorio (EDA):Cálculo de estadísticas descriptivas, visualización con histogramas y </a:t>
            </a:r>
            <a:r>
              <a:rPr lang="es-ES" dirty="0" err="1"/>
              <a:t>boxplots</a:t>
            </a:r>
            <a:r>
              <a:rPr lang="es-ES" dirty="0"/>
              <a:t>, análisis de correlaciones.</a:t>
            </a:r>
          </a:p>
          <a:p>
            <a:endParaRPr lang="es-ES" dirty="0"/>
          </a:p>
          <a:p>
            <a:r>
              <a:rPr lang="es-ES" dirty="0"/>
              <a:t>4.   Limpieza de datos:</a:t>
            </a:r>
          </a:p>
          <a:p>
            <a:pPr marL="285750" indent="-285750">
              <a:buFont typeface="Arial" panose="020B0604020202020204" pitchFamily="34" charset="0"/>
              <a:buChar char="•"/>
            </a:pPr>
            <a:r>
              <a:rPr lang="es-ES" dirty="0"/>
              <a:t>Eliminación de duplicados</a:t>
            </a:r>
          </a:p>
          <a:p>
            <a:pPr marL="285750" indent="-285750">
              <a:buFont typeface="Arial" panose="020B0604020202020204" pitchFamily="34" charset="0"/>
              <a:buChar char="•"/>
            </a:pPr>
            <a:r>
              <a:rPr lang="es-ES" dirty="0"/>
              <a:t>Imputación de nulos con la media</a:t>
            </a:r>
          </a:p>
          <a:p>
            <a:pPr marL="285750" indent="-285750">
              <a:buFont typeface="Arial" panose="020B0604020202020204" pitchFamily="34" charset="0"/>
              <a:buChar char="•"/>
            </a:pPr>
            <a:r>
              <a:rPr lang="es-ES" dirty="0"/>
              <a:t>Normalización de nombres</a:t>
            </a:r>
          </a:p>
          <a:p>
            <a:pPr marL="285750" indent="-285750">
              <a:buFont typeface="Arial" panose="020B0604020202020204" pitchFamily="34" charset="0"/>
              <a:buChar char="•"/>
            </a:pPr>
            <a:r>
              <a:rPr lang="es-ES" dirty="0"/>
              <a:t>Detección de </a:t>
            </a:r>
            <a:r>
              <a:rPr lang="es-ES" dirty="0" err="1"/>
              <a:t>outliers</a:t>
            </a:r>
            <a:r>
              <a:rPr lang="es-ES" dirty="0"/>
              <a:t> con IQR</a:t>
            </a:r>
          </a:p>
        </p:txBody>
      </p:sp>
    </p:spTree>
    <p:custDataLst>
      <p:tags r:id="rId1"/>
    </p:custDataLst>
    <p:extLst>
      <p:ext uri="{BB962C8B-B14F-4D97-AF65-F5344CB8AC3E}">
        <p14:creationId xmlns:p14="http://schemas.microsoft.com/office/powerpoint/2010/main" val="980864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D9266-94D4-E379-CC47-59C0B75CC950}"/>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B0B13922-F6E0-B8A9-3ADB-96175AA1241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uadroTexto 2">
            <a:extLst>
              <a:ext uri="{FF2B5EF4-FFF2-40B4-BE49-F238E27FC236}">
                <a16:creationId xmlns:a16="http://schemas.microsoft.com/office/drawing/2014/main" id="{5989C9C0-A9B9-E8DC-0C20-51067E8AB9C8}"/>
              </a:ext>
            </a:extLst>
          </p:cNvPr>
          <p:cNvSpPr txBox="1"/>
          <p:nvPr/>
        </p:nvSpPr>
        <p:spPr>
          <a:xfrm>
            <a:off x="3048681" y="241030"/>
            <a:ext cx="6094638" cy="646331"/>
          </a:xfrm>
          <a:prstGeom prst="rect">
            <a:avLst/>
          </a:prstGeom>
          <a:noFill/>
        </p:spPr>
        <p:txBody>
          <a:bodyPr wrap="square">
            <a:spAutoFit/>
          </a:bodyPr>
          <a:lstStyle/>
          <a:p>
            <a:pPr algn="ctr"/>
            <a:r>
              <a:rPr lang="es-ES" sz="1800" b="1" dirty="0">
                <a:solidFill>
                  <a:srgbClr val="A08EF1"/>
                </a:solidFill>
                <a:latin typeface="Arial" panose="020B0604020202020204" pitchFamily="34" charset="0"/>
                <a:ea typeface="Roboto Black" panose="02000000000000000000" pitchFamily="2" charset="0"/>
                <a:cs typeface="Arial" panose="020B0604020202020204" pitchFamily="34" charset="0"/>
              </a:rPr>
              <a:t>Modelado de los datos </a:t>
            </a:r>
          </a:p>
          <a:p>
            <a:pPr algn="ctr"/>
            <a:endParaRPr lang="es-CO" dirty="0">
              <a:solidFill>
                <a:srgbClr val="A08EF1"/>
              </a:solidFill>
            </a:endParaRPr>
          </a:p>
        </p:txBody>
      </p:sp>
      <p:pic>
        <p:nvPicPr>
          <p:cNvPr id="2" name="Imagen 1">
            <a:extLst>
              <a:ext uri="{FF2B5EF4-FFF2-40B4-BE49-F238E27FC236}">
                <a16:creationId xmlns:a16="http://schemas.microsoft.com/office/drawing/2014/main" id="{7683521E-40BE-4FFB-80CE-011B6E2C4747}"/>
              </a:ext>
            </a:extLst>
          </p:cNvPr>
          <p:cNvPicPr>
            <a:picLocks noChangeAspect="1"/>
          </p:cNvPicPr>
          <p:nvPr/>
        </p:nvPicPr>
        <p:blipFill>
          <a:blip r:embed="rId4"/>
          <a:stretch>
            <a:fillRect/>
          </a:stretch>
        </p:blipFill>
        <p:spPr>
          <a:xfrm>
            <a:off x="1704362" y="1128391"/>
            <a:ext cx="8783276" cy="4601217"/>
          </a:xfrm>
          <a:prstGeom prst="rect">
            <a:avLst/>
          </a:prstGeom>
        </p:spPr>
      </p:pic>
    </p:spTree>
    <p:custDataLst>
      <p:tags r:id="rId1"/>
    </p:custDataLst>
    <p:extLst>
      <p:ext uri="{BB962C8B-B14F-4D97-AF65-F5344CB8AC3E}">
        <p14:creationId xmlns:p14="http://schemas.microsoft.com/office/powerpoint/2010/main" val="30815755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87D89-7859-4CC1-5469-B0BAE501AFDF}"/>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4FBD23F1-19E4-5946-F330-6E254871B539}"/>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uadroTexto 2">
            <a:extLst>
              <a:ext uri="{FF2B5EF4-FFF2-40B4-BE49-F238E27FC236}">
                <a16:creationId xmlns:a16="http://schemas.microsoft.com/office/drawing/2014/main" id="{9D34A500-5769-D654-1202-0B551652F9CD}"/>
              </a:ext>
            </a:extLst>
          </p:cNvPr>
          <p:cNvSpPr txBox="1"/>
          <p:nvPr/>
        </p:nvSpPr>
        <p:spPr>
          <a:xfrm>
            <a:off x="3048681" y="221783"/>
            <a:ext cx="6094638" cy="369332"/>
          </a:xfrm>
          <a:prstGeom prst="rect">
            <a:avLst/>
          </a:prstGeom>
          <a:noFill/>
        </p:spPr>
        <p:txBody>
          <a:bodyPr wrap="square">
            <a:spAutoFit/>
          </a:bodyPr>
          <a:lstStyle/>
          <a:p>
            <a:pPr algn="ctr"/>
            <a:r>
              <a:rPr lang="es-ES" sz="1800" b="1" dirty="0">
                <a:solidFill>
                  <a:srgbClr val="A08EF1"/>
                </a:solidFill>
                <a:latin typeface="Arial" panose="020B0604020202020204" pitchFamily="34" charset="0"/>
                <a:ea typeface="Roboto Black" panose="02000000000000000000" pitchFamily="2" charset="0"/>
                <a:cs typeface="Arial" panose="020B0604020202020204" pitchFamily="34" charset="0"/>
              </a:rPr>
              <a:t>resultados</a:t>
            </a:r>
            <a:endParaRPr lang="es-CO" dirty="0">
              <a:solidFill>
                <a:srgbClr val="A08EF1"/>
              </a:solidFill>
            </a:endParaRPr>
          </a:p>
        </p:txBody>
      </p:sp>
      <p:pic>
        <p:nvPicPr>
          <p:cNvPr id="4" name="Imagen 3">
            <a:extLst>
              <a:ext uri="{FF2B5EF4-FFF2-40B4-BE49-F238E27FC236}">
                <a16:creationId xmlns:a16="http://schemas.microsoft.com/office/drawing/2014/main" id="{9A79268F-A8B2-448B-A638-C85F671AC03F}"/>
              </a:ext>
            </a:extLst>
          </p:cNvPr>
          <p:cNvPicPr>
            <a:picLocks noChangeAspect="1"/>
          </p:cNvPicPr>
          <p:nvPr/>
        </p:nvPicPr>
        <p:blipFill rotWithShape="1">
          <a:blip r:embed="rId4">
            <a:extLst>
              <a:ext uri="{28A0092B-C50C-407E-A947-70E740481C1C}">
                <a14:useLocalDpi xmlns:a14="http://schemas.microsoft.com/office/drawing/2010/main" val="0"/>
              </a:ext>
            </a:extLst>
          </a:blip>
          <a:srcRect l="50298"/>
          <a:stretch/>
        </p:blipFill>
        <p:spPr>
          <a:xfrm>
            <a:off x="7066029" y="1265023"/>
            <a:ext cx="4913869" cy="4327954"/>
          </a:xfrm>
          <a:prstGeom prst="rect">
            <a:avLst/>
          </a:prstGeom>
        </p:spPr>
      </p:pic>
      <p:pic>
        <p:nvPicPr>
          <p:cNvPr id="7" name="Imagen 6">
            <a:extLst>
              <a:ext uri="{FF2B5EF4-FFF2-40B4-BE49-F238E27FC236}">
                <a16:creationId xmlns:a16="http://schemas.microsoft.com/office/drawing/2014/main" id="{AC561633-B2C5-4545-9257-4D3EE7E8028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855" y="831433"/>
            <a:ext cx="6755072" cy="4379150"/>
          </a:xfrm>
          <a:prstGeom prst="rect">
            <a:avLst/>
          </a:prstGeom>
        </p:spPr>
      </p:pic>
    </p:spTree>
    <p:custDataLst>
      <p:tags r:id="rId1"/>
    </p:custDataLst>
    <p:extLst>
      <p:ext uri="{BB962C8B-B14F-4D97-AF65-F5344CB8AC3E}">
        <p14:creationId xmlns:p14="http://schemas.microsoft.com/office/powerpoint/2010/main" val="33974238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Tema de Office">
  <a:themeElements>
    <a:clrScheme name="LINDO LINDO">
      <a:dk1>
        <a:sysClr val="windowText" lastClr="000000"/>
      </a:dk1>
      <a:lt1>
        <a:sysClr val="window" lastClr="FFFFFF"/>
      </a:lt1>
      <a:dk2>
        <a:srgbClr val="142F50"/>
      </a:dk2>
      <a:lt2>
        <a:srgbClr val="F9F8F3"/>
      </a:lt2>
      <a:accent1>
        <a:srgbClr val="38A4D4"/>
      </a:accent1>
      <a:accent2>
        <a:srgbClr val="F6F25C"/>
      </a:accent2>
      <a:accent3>
        <a:srgbClr val="FCA810"/>
      </a:accent3>
      <a:accent4>
        <a:srgbClr val="EF255F"/>
      </a:accent4>
      <a:accent5>
        <a:srgbClr val="22B183"/>
      </a:accent5>
      <a:accent6>
        <a:srgbClr val="8C54B6"/>
      </a:accent6>
      <a:hlink>
        <a:srgbClr val="39BCD2"/>
      </a:hlink>
      <a:folHlink>
        <a:srgbClr val="8963A7"/>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1877</TotalTime>
  <Words>534</Words>
  <Application>Microsoft Office PowerPoint</Application>
  <PresentationFormat>Panorámica</PresentationFormat>
  <Paragraphs>98</Paragraphs>
  <Slides>9</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9</vt:i4>
      </vt:variant>
    </vt:vector>
  </HeadingPairs>
  <TitlesOfParts>
    <vt:vector size="13" baseType="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VIDEO INTRODUCTORIO SEMANA 1</dc:title>
  <dc:creator>Ana Maria Salazar</dc:creator>
  <cp:lastModifiedBy>Carlos Mario Patiño Cardona</cp:lastModifiedBy>
  <cp:revision>53</cp:revision>
  <dcterms:created xsi:type="dcterms:W3CDTF">2024-01-29T20:34:43Z</dcterms:created>
  <dcterms:modified xsi:type="dcterms:W3CDTF">2025-11-15T16:38:57Z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D82F9886-3FD5-42EB-B509-1BFBAE8A1A25</vt:lpwstr>
  </property>
  <property fmtid="{D5CDD505-2E9C-101B-9397-08002B2CF9AE}" pid="3" name="ArticulatePath">
    <vt:lpwstr>Semana1_Videoclase_empaquesyembalajes_V3_David</vt:lpwstr>
  </property>
  <property fmtid="{D5CDD505-2E9C-101B-9397-08002B2CF9AE}" pid="4" name="MSIP_Label_fc111285-cafa-4fc9-8a9a-bd902089b24f_Enabled">
    <vt:lpwstr>true</vt:lpwstr>
  </property>
  <property fmtid="{D5CDD505-2E9C-101B-9397-08002B2CF9AE}" pid="5" name="MSIP_Label_fc111285-cafa-4fc9-8a9a-bd902089b24f_SetDate">
    <vt:lpwstr>2025-07-01T13:05:37Z</vt:lpwstr>
  </property>
  <property fmtid="{D5CDD505-2E9C-101B-9397-08002B2CF9AE}" pid="6" name="MSIP_Label_fc111285-cafa-4fc9-8a9a-bd902089b24f_Method">
    <vt:lpwstr>Privileged</vt:lpwstr>
  </property>
  <property fmtid="{D5CDD505-2E9C-101B-9397-08002B2CF9AE}" pid="7" name="MSIP_Label_fc111285-cafa-4fc9-8a9a-bd902089b24f_Name">
    <vt:lpwstr>Public</vt:lpwstr>
  </property>
  <property fmtid="{D5CDD505-2E9C-101B-9397-08002B2CF9AE}" pid="8" name="MSIP_Label_fc111285-cafa-4fc9-8a9a-bd902089b24f_SiteId">
    <vt:lpwstr>cbc2c381-2f2e-4d93-91d1-506c9316ace7</vt:lpwstr>
  </property>
  <property fmtid="{D5CDD505-2E9C-101B-9397-08002B2CF9AE}" pid="9" name="MSIP_Label_fc111285-cafa-4fc9-8a9a-bd902089b24f_ActionId">
    <vt:lpwstr>73fd4af2-d571-43c2-b053-cba03ebf9672</vt:lpwstr>
  </property>
  <property fmtid="{D5CDD505-2E9C-101B-9397-08002B2CF9AE}" pid="10" name="MSIP_Label_fc111285-cafa-4fc9-8a9a-bd902089b24f_ContentBits">
    <vt:lpwstr>0</vt:lpwstr>
  </property>
  <property fmtid="{D5CDD505-2E9C-101B-9397-08002B2CF9AE}" pid="11" name="MSIP_Label_fc111285-cafa-4fc9-8a9a-bd902089b24f_Tag">
    <vt:lpwstr>10, 0, 1, 1</vt:lpwstr>
  </property>
</Properties>
</file>